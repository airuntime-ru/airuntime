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298448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https://max.ru/t403_hakaton_max_bot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86537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865376"/>
            <a:ext cx="4343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https://airuntime.ru/max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Подключено к боту: кнопка «Открыть Витрину» и ссылки max.ru/t403_hakaton_max_bot?startapp=&lt;slug&gt;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968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59689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github.com/airuntime-ru/airuntime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9809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980944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376b483180331187bd900c2dce8a18bda4ca5672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main · короткий 376b483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5478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54787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 /api/v1/max/* обслуживают только мини-приложение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114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учётки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4114800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нужны: вход — аккаунт MAX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роли клиента — второй аккаунт MAX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4681728"/>
            <a:ext cx="5943600" cy="1517904"/>
          </a:xfrm>
          <a:prstGeom prst="roundRect">
            <a:avLst>
              <a:gd name="adj" fmla="val 602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22376" y="4828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и переменные окружения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" y="5138928"/>
            <a:ext cx="5532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компоненты одной командой: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MAX_BOT_TOKEN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передаётся в PDF для жюри; в репозитории токенов нет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MAX_BOT_USERNAME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t403_hakaton_max_bot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MAX_WEBHOOK_SECRET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любая строка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OPENAI_API_KEY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по запросу; без ключа витрина собирается шаблоном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Остальное — </a:t>
            </a:r>
            <a:r>
              <a:rPr lang="en-US" sz="1050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.env.example</a:t>
            </a: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пункты README по заданию — раздел «Для проверки»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20840" y="1298448"/>
            <a:ext cx="4965192" cy="4901184"/>
          </a:xfrm>
          <a:prstGeom prst="roundRect">
            <a:avLst>
              <a:gd name="adj" fmla="val 186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76872" y="1499616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1920240"/>
            <a:ext cx="4453128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max.ru/t403_hakaton_max_bot, нажать «Начать», затем «Открыть Витрину»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Описать бизнес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«Автосервис на Лесной. Диагностика 1500, замена масла 900, шиномонтаж 2400. Работаем с 9 до 20» — и нажать «Собрать витрину»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~10 секунд витрина опубликована: ссылка, «Поделиться», «Посмотреть»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ссылку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второго аккаунта MAX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это роль клиента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Владельцу в чат с ботом придёт заявка с кнопкой «Открыть заявки»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«Подтвердить» — клиенту придёт ответ в MAX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3350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33350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33350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371725" y="1376363"/>
            <a:ext cx="219075" cy="21907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443163" y="1447800"/>
            <a:ext cx="76200" cy="76200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667000" y="133350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94310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860" dirty="0"/>
          </a:p>
        </p:txBody>
      </p:sp>
      <p:sp>
        <p:nvSpPr>
          <p:cNvPr id="9" name="Text 6"/>
          <p:cNvSpPr txBox="1"/>
          <p:nvPr/>
        </p:nvSpPr>
        <p:spPr>
          <a:xfrm>
            <a:off x="647700" y="2152650"/>
            <a:ext cx="53340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</a:t>
            </a:r>
            <a:endParaRPr lang="en-US" sz="8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50520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сервис записи в MAX из одного сообщения — без разработчика, без подрядчика, без ожидания.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810125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029200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[Название команды]</a:t>
            </a:r>
            <a:endParaRPr lang="en-US" sz="1275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2959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[Участники и роли]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838450" y="4810125"/>
            <a:ext cx="238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60" dirty="0"/>
          </a:p>
        </p:txBody>
      </p:sp>
      <p:sp>
        <p:nvSpPr>
          <p:cNvPr id="15" name="Text 12"/>
          <p:cNvSpPr txBox="1"/>
          <p:nvPr/>
        </p:nvSpPr>
        <p:spPr>
          <a:xfrm>
            <a:off x="2838450" y="5029200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75" dirty="0"/>
          </a:p>
        </p:txBody>
      </p:sp>
      <p:sp>
        <p:nvSpPr>
          <p:cNvPr id="16" name="Text 13"/>
          <p:cNvSpPr txBox="1"/>
          <p:nvPr/>
        </p:nvSpPr>
        <p:spPr>
          <a:xfrm>
            <a:off x="2838450" y="5295900"/>
            <a:ext cx="257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848350" y="990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ОПИСЫВАЕТ БИЗНЕС</a:t>
            </a:r>
            <a:endParaRPr lang="en-US" sz="825" dirty="0"/>
          </a:p>
        </p:txBody>
      </p:sp>
      <p:pic>
        <p:nvPicPr>
          <p:cNvPr id="18" name="Image 1" descr="bubble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350" y="1257300"/>
            <a:ext cx="2590800" cy="104775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010275" y="13525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 пр. 12. Диагностика подвески 1500, замена масла 900, шиномонтаж 2400. С 9 до 20, +7 812 000-00-00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686800" y="723900"/>
            <a:ext cx="2762250" cy="5380863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21" name="Image 2" descr="screen-storefro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8619" y="795718"/>
            <a:ext cx="2618613" cy="5237226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096000" y="3848100"/>
            <a:ext cx="2857500" cy="139065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267450" y="4000500"/>
            <a:ext cx="209550" cy="209550"/>
          </a:xfrm>
          <a:prstGeom prst="ellipse">
            <a:avLst/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267450" y="40005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6562725" y="398145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готова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6267450" y="426720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 записываются по ссылке, заявки приходят в чат с ботом.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67450" y="4743450"/>
            <a:ext cx="2514600" cy="352425"/>
          </a:xfrm>
          <a:prstGeom prst="roundRect">
            <a:avLst>
              <a:gd name="adj" fmla="val 29730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267450" y="4743450"/>
            <a:ext cx="25146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Поделиться ссылкой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MAX  ·  2026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Витрина: запись в MAX из одного сообщения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11183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услуг описывает бизнес одним сообщением в мини-приложении MAX — через ~10 секунд у него опубликованная витрина с онлайн-записью. Клиенты записываются, не выходя из MAX, заявки приходят владельцу в чат.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 с записью на время: автосервис, барбершоп, маникюр, репетитор. 1–5 человек, без сайта и CRM.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44418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3874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ведётся вручную в личных сообщениях: ночные заявки теряются, случаются двойные брони, прайс пересказывается каждому.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85916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5372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и мини-приложение в MAX: описание → витрина с услугами, ценами и временем → запись → заявка владельцу → ответ клиенту.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27414" y="2212848"/>
            <a:ext cx="2658618" cy="1920240"/>
          </a:xfrm>
          <a:prstGeom prst="roundRect">
            <a:avLst>
              <a:gd name="adj" fmla="val 476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246870" y="2395728"/>
            <a:ext cx="2219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круглосуточно и без переписки: клиент проходит путь сам за два касания, владельцу остаётся одна кнопка.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готовой витрины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44418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7298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сек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527298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ссылки для клиентов (замер на проде)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85916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68796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6368796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27414" y="4315968"/>
            <a:ext cx="2658618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210294" y="4462272"/>
            <a:ext cx="2292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210294" y="4937760"/>
            <a:ext cx="2292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 ПО КРИТЕРИЯМ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в презентации ответ на каждый критерий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и веса — из задания трека. Справа — номера слайдов, где на критерий отвечаем прямо.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1847088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35%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21408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Контексты и регионы помимо пилота, что переносится и что адаптируется, условия, риски, порядок тиражирования по шагам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951476" y="1737360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17–19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706624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5800" y="2816352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25%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90672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Приоритетный сегмент, проблема по формуле, факты отдельно от допущений, сравнение с тем, как запись ведут сейчас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951476" y="2706624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02920" y="3675888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3785616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UX/UI и удобство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20%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059936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владельца и клиента на реальных экранах; как интерфейс сообщает о загрузке, результате и ошибке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951476" y="3675888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4645152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85800" y="4754880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и целостность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15%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029200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Гипотеза, ожидаемый эффект с метриками, границы MVP по MoSCoW, почему продукт устроен именно так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951476" y="4645152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 11–13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185916" y="1737360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68796" y="1847088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Работоспособность, интеграция, архитектура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30+20+20%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121408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проверки, состав и связи компонентов, реальные интеграции с MAX Bot API и MAX Bridge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34472" y="1737360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1, 13, 16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185916" y="2706624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368796" y="2816352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Стабильность, безопасность, документация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10+10+10%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368796" y="3090672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ошибок и повторов, модель доверия, зафиксированные зависимости, README по пунктам задания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634472" y="2706624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185916" y="3675888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68796" y="3785616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Платформенный бонус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+0,15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368796" y="4059936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 MAX сверх минимума: контакт из аккаунта, «Поделиться» в чаты, кнопки с переходом на нужный экран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634472" y="3675888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6185916" y="4645152"/>
            <a:ext cx="5500116" cy="841248"/>
          </a:xfrm>
          <a:prstGeom prst="roundRect">
            <a:avLst>
              <a:gd name="adj" fmla="val 1087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68796" y="4754880"/>
            <a:ext cx="42199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запуска (финал)</a:t>
            </a:r>
            <a:r>
              <a:rPr lang="en-US" sz="9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15%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368796" y="5029200"/>
            <a:ext cx="42199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район, каналы привлечения, участники, сроки, метрики и следующий шаг после пилота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634472" y="4645152"/>
            <a:ext cx="868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" y="566928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Слева — продуктовая оценка, справа (с оттенком) — техническая оценка, бонус и финал. Ограничения и допущения — слайд 20, источники — слайд 21.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89788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545896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Приоритетный сегмент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микробизнеса услуг с записью на время: 1–5 человек, без сайта и CRM, запись сейчас — в личных сообщениях. Пилотные ниши — автосервис, барбершоп, мастер маникюра.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 пилоте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сети и франшизы — там решает головной офис.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944368"/>
            <a:ext cx="5897880" cy="2487168"/>
          </a:xfrm>
          <a:prstGeom prst="roundRect">
            <a:avLst>
              <a:gd name="adj" fmla="val 367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0664" y="3127248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3520440"/>
            <a:ext cx="54223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платного сервиса с настройкой либо разработки сайта или бота, 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ведёт запись вручную — теряет ночные заявки, допускает двойные брони и тратит рабочее время на переписку.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132588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3F1EB"/>
          </a:solidFill>
          <a:ln w="12700">
            <a:solidFill>
              <a:srgbClr val="E3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32588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Факты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164324" y="13258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и динамика аудитории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66560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реестре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327136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510016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510016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юрлиц и ИП — это МСП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510016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070592" y="1691640"/>
            <a:ext cx="1615440" cy="1481328"/>
          </a:xfrm>
          <a:prstGeom prst="roundRect">
            <a:avLst>
              <a:gd name="adj" fmla="val 617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253472" y="1837944"/>
            <a:ext cx="124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r>
              <a:rPr lang="en-US" sz="14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10253472" y="2313432"/>
            <a:ext cx="12496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за год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253472" y="2880360"/>
            <a:ext cx="124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3310128"/>
            <a:ext cx="510235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784848" y="3456432"/>
            <a:ext cx="47000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названа в задании трека: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ценность цифрового решения — во взаимодействии с клиентами, «например, оформления заказа, записи на услугу, бронирования… непосредственно в MAX».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583680" y="4526280"/>
            <a:ext cx="763524" cy="246888"/>
          </a:xfrm>
          <a:prstGeom prst="roundRect">
            <a:avLst>
              <a:gd name="adj" fmla="val 22222"/>
            </a:avLst>
          </a:prstGeom>
          <a:solidFill>
            <a:srgbClr val="FFE8F2"/>
          </a:solidFill>
          <a:ln w="12700">
            <a:solidFill>
              <a:srgbClr val="FFE8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4526280"/>
            <a:ext cx="7635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Допущение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4864608"/>
            <a:ext cx="5102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микросервисов, которые ведут запись вручную и считают это проблемой, исследованием не подтверждена. Её проверяет пилот (слайд 19), допущения собраны на слайде 20.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приём и подтверждение записи,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— снова вручную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1636" y="169164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69380" y="1874520"/>
            <a:ext cx="1380744" cy="246888"/>
          </a:xfrm>
          <a:prstGeom prst="roundRect">
            <a:avLst>
              <a:gd name="adj" fmla="val 22222"/>
            </a:avLst>
          </a:prstGeom>
          <a:solidFill>
            <a:srgbClr val="D5EBE6"/>
          </a:solidFill>
          <a:ln w="12700">
            <a:solidFill>
              <a:srgbClr val="D5EB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9380" y="1874520"/>
            <a:ext cx="1380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Витриной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69380" y="2286000"/>
            <a:ext cx="49789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пересказ прайса: услуги и цены видны в витрине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выбор времени: клиент берёт слот сам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собирается заявка и приходит в чат владельца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ответ: подтверждение — одна кнопка, клиенту приходит сообщение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результат: запись принимается круглосуточно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 — продукт не назначает встречи за него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709160"/>
            <a:ext cx="1118311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4873752"/>
            <a:ext cx="106710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</a:t>
            </a: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Если мы поможем владельцу микросервиса принимать записи витриной в MAX, собранной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 Как это проверить — слайд 11.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ПОЛЬЗОВАТЕЛЬСКАЯ ЦЕННОСТЬ · ПРЕИМУЩЕСТВО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не так, как запись ведут сейчас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по тому, что важно владельцу микробизнеса. Цены и сроки альтернатив мы не исследовали, поэтому сравниваем качественно.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83080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350008"/>
                <a:gridCol w="2350008"/>
                <a:gridCol w="2350008"/>
                <a:gridCol w="23500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ПЕРЕПИСКА В ЛИЧНЫХ СООБЩЕНИЯХ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ОНЛАЙН-ЗАПИСИ ИЛИ CRM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79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САЙТ ИЛИ БОТ НА ЗАКАЗ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spc="60" kern="0" dirty="0">
                          <a:solidFill>
                            <a:srgbClr val="0077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ВИТРИНА В MAX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Запуск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уже есть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регистрация, настройка услуг и расписания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задание, подрядчик, ожидание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 сообщение, ~10 секунд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нужен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владелец разбирается в настройках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разработчик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никто: описание обычными словами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Где записывается клиент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переписке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отдельной странице или в приложении сервиса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сайте или в отдельном боте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внутри MAX, по ссылке или QR-коду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Заявка ночью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ждёт ответа до утра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принимается и сразу приходит в чат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Прайс и свободное время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пересказываются каждому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 клиенту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видны, правятся одной фразой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Телефон клиента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пишет вручную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 в форму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D11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одной кнопкой из аккаунта MAX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DD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57150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мы сознательно слабее: нет онлайн-оплаты и календаря занятости — это границы MVP, а не упущение (слайд 12).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 → опубликованная витрина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«Начать» в чат-боте, затем «Открыть Витрину». Регистрации нет: аккаунт MAX и есть вход.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owner-comp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Описывает бизнес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Одним сообщением, как рассказал бы другу. Есть готовые примеры; кнопка активна, когда описание осмысленное.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owner-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Видит, что идёт сборка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и подсказка не закрывать приложение; если закрыть случайно, MAX переспросит.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owner-read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Получает результат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«✓ Витрина готова»: ссылка, «Поделиться» в чаты MAX, «Посмотреть» глазами клиента.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ОСНОВНОЙ СЦЕНАРИЙ,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открывает ссылку или QR-код владельца — витрина сразу внутри MAX, без установки и регистрации.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93876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6" name="Image 0" descr="screen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3327" y="1695371"/>
            <a:ext cx="1803050" cy="36061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Выбор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длительностью, адрес и часы в шапке. Время появляется после выбора услуги.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143500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0" name="Image 1" descr="screen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951" y="1695371"/>
            <a:ext cx="1803050" cy="360610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52544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Отправка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подставлено из профиля MAX, телефон — одной кнопкой. Над кнопкой видно, что именно бронируется.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993124" y="1645920"/>
            <a:ext cx="1901952" cy="3705002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4" name="Image 2" descr="screen-customer-d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2575" y="1695371"/>
            <a:ext cx="1803050" cy="360610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02168" y="5442362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Готово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339328" y="5716682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принята: услуга и время на экране, а ответ владельца придёт сюда, в MAX.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· ОБРАТНАЯ СВЯЗЬ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→ решение владельца → ответ клиенту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401568" cy="19202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719072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ВЛАДЕЛЬЦУ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6816"/>
            <a:ext cx="30358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Новая заявка</a:t>
            </a: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Сегодня 14:00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Пётр Клиент, +7 999 000-11-22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«Mazda 6, стучит подвеска»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2980944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980944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заявки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Приходит в чат с ботом сразу, в любое время суток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0248" y="1481328"/>
            <a:ext cx="3648456" cy="2183192"/>
          </a:xfrm>
          <a:prstGeom prst="roundRect">
            <a:avLst>
              <a:gd name="adj" fmla="val 7539"/>
            </a:avLst>
          </a:prstGeom>
          <a:solidFill>
            <a:srgbClr val="F2F4F7"/>
          </a:solidFill>
          <a:ln w="9525">
            <a:solidFill>
              <a:srgbClr val="E3E8EF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8000"/>
              </a:srgbClr>
            </a:outerShdw>
          </a:effectLst>
        </p:spPr>
      </p:sp>
      <p:pic>
        <p:nvPicPr>
          <p:cNvPr id="11" name="Image 0" descr="card-owner-l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4256" y="1545336"/>
            <a:ext cx="3520440" cy="205517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270248" y="3767328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кабинете — «Подтвердить» или «Отклонить» одной кнопкой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84464" y="1691640"/>
            <a:ext cx="3401568" cy="1691640"/>
          </a:xfrm>
          <a:prstGeom prst="roundRect">
            <a:avLst>
              <a:gd name="adj" fmla="val 8649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228600" dist="76200" dir="5400000">
              <a:srgbClr val="091228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467344" y="1837944"/>
            <a:ext cx="3035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· КЛИЕНТУ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467344" y="2075688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подтверждена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подвески · Сегодня 14:00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467344" y="2871216"/>
            <a:ext cx="3035808" cy="347472"/>
          </a:xfrm>
          <a:prstGeom prst="roundRect">
            <a:avLst>
              <a:gd name="adj" fmla="val 23684"/>
            </a:avLst>
          </a:prstGeom>
          <a:solidFill>
            <a:srgbClr val="E5F1FF"/>
          </a:solidFill>
          <a:ln w="12700">
            <a:solidFill>
              <a:srgbClr val="E5F1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67344" y="2871216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витрину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284464" y="3767328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в MAX — туда же, где он записывался. При отказе — кнопка «Выбрать другое время»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3959352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233172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02920" y="4572000"/>
            <a:ext cx="11183112" cy="114300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223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Скелетоны экрана и индикатор сборки витрины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4655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«Витрина готова», «Заявка принята», статусы заявок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2087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Понятный текст и «Повторить»; введённое не теряется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951976" y="4727448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тупиков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экран; в предпросмотре — «Назад»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Улучшаем один участок — приём и подтверждение записи. На этапе хакатона это гипотезы; важно,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77440"/>
            <a:ext cx="49789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открыл витрину → отправил заявку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от заявки до нажатия владельцем кнопки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прямой замер того, что раньше терялось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целевое значение 0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скорость выхода на результат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4956048"/>
            <a:ext cx="49789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для замера не нужна.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31636" y="1783080"/>
            <a:ext cx="5454396" cy="3749040"/>
          </a:xfrm>
          <a:prstGeom prst="roundRect">
            <a:avLst>
              <a:gd name="adj" fmla="val 2439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9380" y="196596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69380" y="2377440"/>
            <a:ext cx="49789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запуска: владелец неделю считает заявки и время на переписку вручную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три недели через витрину, сравнение по тем же величинам</a:t>
            </a:r>
            <a:endParaRPr lang="en-US" sz="125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69380" y="4023360"/>
            <a:ext cx="497890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52260" y="4187952"/>
            <a:ext cx="46131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владелец после пилота не возвращается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ОБОСНОВАННОСТЬ · ГРАНИЦЫ MVP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вошло в MVP и что сознательно нет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закрывает один сценарий от описания до ответа клиенту. Приоритеты — по MoSCoW; Won't Have — осознанное ограничение объёма.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65960"/>
            <a:ext cx="420624" cy="246888"/>
          </a:xfrm>
          <a:prstGeom prst="roundRect">
            <a:avLst>
              <a:gd name="adj" fmla="val 22222"/>
            </a:avLst>
          </a:prstGeom>
          <a:solidFill>
            <a:srgbClr val="D7E8E5"/>
          </a:solidFill>
          <a:ln w="12700">
            <a:solidFill>
              <a:srgbClr val="D7E8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965960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65960"/>
            <a:ext cx="1689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→ опубликованная витрина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Запись клиента внутри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владельцу в чат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ответ клиенту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4418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3874" y="1965960"/>
            <a:ext cx="55778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3874" y="1965960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213098" y="1965960"/>
            <a:ext cx="15521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63874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Правка витрины одной фразой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Скрыть, опубликовать, удалить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в чаты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из аккаунта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глазами клиента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5916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5372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6E0FB"/>
          </a:solidFill>
          <a:ln w="12700">
            <a:solidFill>
              <a:srgbClr val="E6E0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5372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B2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пилота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Напоминание клиенту накануне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занятости вместо текстовых слотов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«аренда»: сутки и залог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27414" y="1783080"/>
            <a:ext cx="2658618" cy="2697480"/>
          </a:xfrm>
          <a:prstGeom prst="roundRect">
            <a:avLst>
              <a:gd name="adj" fmla="val 3439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46870" y="1965960"/>
            <a:ext cx="489204" cy="246888"/>
          </a:xfrm>
          <a:prstGeom prst="roundRect">
            <a:avLst>
              <a:gd name="adj" fmla="val 22222"/>
            </a:avLst>
          </a:prstGeom>
          <a:solidFill>
            <a:srgbClr val="E1E4E9"/>
          </a:solidFill>
          <a:ln w="12700">
            <a:solidFill>
              <a:srgbClr val="E1E4E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46870" y="1965960"/>
            <a:ext cx="4892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827514" y="1965960"/>
            <a:ext cx="16207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сознательно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246870" y="2377440"/>
            <a:ext cx="221970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Онлайн-оплата: витрина доводит до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Сотрудники и роли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CRM и внешними календарями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под каждый бизнес: витрина — это данные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46634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8952" y="4800600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границы именно такие:</a:t>
            </a: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каждый пункт Must нужен, чтобы клиент дошёл от ссылки до подтверждённой записи; без любого из них сценарий обрывается. Всё, что требует денег клиента, сотрудников или чужих систем, откладываем до проверки главной гипотезы.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 и почему он такой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9844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298448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70992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198424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приветствие и уведомления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3246120" cy="713232"/>
          </a:xfrm>
          <a:prstGeom prst="roundRect">
            <a:avLst>
              <a:gd name="adj" fmla="val 1153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578608"/>
            <a:ext cx="2843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2852928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витрина, заявки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0020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70992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198424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46888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57860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285292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337560"/>
            <a:ext cx="3566160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447288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витрины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72160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валидируемый конфиг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0020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70992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198424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витрины,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46888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57860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285292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337560"/>
            <a:ext cx="3090672" cy="713232"/>
          </a:xfrm>
          <a:prstGeom prst="roundRect">
            <a:avLst>
              <a:gd name="adj" fmla="val 1153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44728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372160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803904" y="195681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803904" y="2825496"/>
            <a:ext cx="71323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195681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282549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694176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355080" y="3200400"/>
            <a:ext cx="0" cy="118872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3822192" y="16916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обновления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822192" y="25603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initData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02920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22376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— это данные, а не код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заполняет схему, а не пишет программу: один мультитенантный мини-апп рендерит все витрины. «Описал → клиент может записаться» занимает секунды, а кривое поле обрезает валидация.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4306824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4526280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— вход, мини-приложение — работа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советует задание: чат-бот — для уведомлений и коротких действий, форма, каталог и список заявок — в мини-приложении. Первая версия с мастером в чате делала витрину из любого сообщения, мы её заменили.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110728" y="4315968"/>
            <a:ext cx="3575304" cy="1874520"/>
          </a:xfrm>
          <a:prstGeom prst="roundRect">
            <a:avLst>
              <a:gd name="adj" fmla="val 487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330184" y="4498848"/>
            <a:ext cx="31363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приложение, две роли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подключено к чат-боту и не живёт отдельно. Роль задаёт стартовый параметр: без него — кабинет владельца, со слагом витрины — витрина для клиента.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НАДЁЖНОСТЬ И БЕЗОПАСНОСТЬ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Стабильность, безопасность, проверяемость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 и ошибки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 и не вызывает модель — MAX не повторяет доставку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 к MAX API повторяется, только если не дошёл: без дублей сообщений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до трёх попыток, затем шаблон: сценарий не упирается в тупик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в интерфейсе — понятный текст и «Повторить», введённое не теряется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Повторный прогон сценария — новая витрина со своим адресом; после 10 — понятное сообщение, лишние удаляются кнопкой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06824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 и данные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Личность в мини-приложении — только из подписи initData по токену бота, срок жизни — час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— секрет в пути, в логах маскируется; неверный секрет → 404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видит и меняет только свои витрины и заявки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 пользователей экранируется в сообщениях бота; в модель уходят только описание и правки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Секретов в репозитории нет, .env.example без значений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10728" y="1325880"/>
            <a:ext cx="3575304" cy="3703320"/>
          </a:xfrm>
          <a:prstGeom prst="roundRect">
            <a:avLst>
              <a:gd name="adj" fmla="val 255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30184" y="1499616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Воспроизводимость и документация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8330184" y="1901952"/>
            <a:ext cx="31363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локальные компоненты — одной командой docker compose up --build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зафиксированы: requirements.txt + requirements.lock, package-lock.json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закрывает пункты задания по порядку, с таблицей проверки и ожидаемыми результатами</a:t>
            </a:r>
            <a:endParaRPr lang="en-US" sz="115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автотеста: подделка подписи, чужой токен, чужие витрины, сквозной сценарий через HTTP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5193792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8952" y="5340096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проде: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витрина из описания собирается за ~9 секунд с реальной моделью, правка — за ~3 секунды; сообщения бота с баннером и кнопками проходят валидацию MAX API.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ПЛАТФОРМЕННЫЙ БОНУС · ВОЗМОЖНОСТИ MAX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сверх минимума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Минимум задания — чат-бот с подключённым мини-приложением. Всё ниже — сверх него, и каждая возможность работает в основном сценарии от начала до результата.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requestContact()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из аккаунта MAX одной кнопкой. Запись без ввода номера — меньше ошибок и шагов в форме.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06824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26280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shareMaxContent()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открывает родной экран MAX «Отправить в чат»: владелец раздаёт ссылку клиентам, не выходя из мессенджера.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10728" y="1810512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30184" y="19751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Кнопки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open_app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30184" y="2340864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сообщение бота открывает нужный экран: владельцу — заявки, клиенту — его витрину. Диплинк startapp — для ссылки и QR-кода.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22376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из </a:t>
            </a: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 клиента уже подставлено в форму записи, а владелец входит без регистрации — аккаунт MAX и есть вход.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06824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526280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BackButton</a:t>
            </a: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подтверждение закрытия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Родная кнопка «Назад» в предпросмотре витрины; если закрыть приложение во время сборки, MAX переспросит.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10728" y="3438144"/>
            <a:ext cx="3575304" cy="1463040"/>
          </a:xfrm>
          <a:prstGeom prst="roundRect">
            <a:avLst>
              <a:gd name="adj" fmla="val 625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330184" y="36027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HapticFeedback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30184" y="3968496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Тактильный отклик на ключевые действия на телефоне: сборка готова, заявка подтверждена.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512064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8952" y="5266944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 MAX: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одна вёрстка, проверенная от 320 px. Если клиент MAX не поддерживает метод Bridge, приложение мягко обходится без него — например, «Поделиться» превращается в копирование ссылки.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ОЦЕНКА · 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77256" cy="2103120"/>
          </a:xfrm>
          <a:prstGeom prst="roundRect">
            <a:avLst>
              <a:gd name="adj" fmla="val 434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1874520"/>
            <a:ext cx="50017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вводит сам владелец в мини-приложении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из подписанных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только если клиент сам поделился через MAX или ввёл вручную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то, что клиент выбрал в витрине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593592"/>
            <a:ext cx="547725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0664" y="3758184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работы с моделью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4142232"/>
            <a:ext cx="50017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только структурирует текст владельца: цены и контакты не придумывает — чего нет в описании, остаётся пустым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владелец видит сразу и правит одной фразой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недоступна — витрина собирается шаблоном, сценарий не блокируется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08776" y="1325880"/>
            <a:ext cx="5477256" cy="2331720"/>
          </a:xfrm>
          <a:prstGeom prst="roundRect">
            <a:avLst>
              <a:gd name="adj" fmla="val 392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1490472"/>
            <a:ext cx="5001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— все реальные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1874520"/>
            <a:ext cx="50017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platform-api2.max.ru: вебхук, сообщения, кнопки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навигация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описание → конфигурация витрины, с детерминированным фоллбэком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Государственные информационные системы </a:t>
            </a: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используются и не имитируются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08776" y="3822192"/>
            <a:ext cx="5477256" cy="1737360"/>
          </a:xfrm>
          <a:prstGeom prst="roundRect">
            <a:avLst>
              <a:gd name="adj" fmla="val 5263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28232" y="4005072"/>
            <a:ext cx="50383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«Автосервис на Лесной» и заявки на слайдах 8–10 — демо: не реальные организации и клиенты. Витрины созданы через тот же продуктовый сценарий, а экраны сняты с подставленными демо-данными.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ЯДРО И ПЕРЕМЕННАЯ ЧАСТЬ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переносится без изменений, а что адаптируется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тиражируется не потому, что перечислено много регионов, а потому, что понятно, какая часть меняется.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0664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— переносится без изменений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витрины: позиции, цены, длительность, время, поля заявки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новая витрина не требует деплоя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1636" y="1737360"/>
            <a:ext cx="5454396" cy="2103120"/>
          </a:xfrm>
          <a:prstGeom prst="roundRect">
            <a:avLst>
              <a:gd name="adj" fmla="val 4348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69380" y="192024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69380" y="2304288"/>
            <a:ext cx="49789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витрины: запись / меню / заявка —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типа уже есть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 в подсказках модели: услуга, позиция, объект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времени: длительность, часы работы, праздники региона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мастер → сотрудники → филиалы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оплата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041648"/>
            <a:ext cx="11183112" cy="1115568"/>
          </a:xfrm>
          <a:prstGeom prst="roundRect">
            <a:avLst>
              <a:gd name="adj" fmla="val 8197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206240"/>
            <a:ext cx="10671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ещё та же проблема — «клиент хочет записаться или заказать, а владелец отвечает вручную»:</a:t>
            </a:r>
            <a:r>
              <a:rPr lang="en-US" sz="12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кафе и пекарни (предзаказ), аренда инвентаря и помещений, секции и студии (запись на занятия), ремонт и бытовые услуги (вызов мастера). Каждое направление использует готовый тип витрины и меняет только переменную часть. Порядок — на следующем слайде.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 · ПОРЯДОК ТИРАЖИРОВАНИЯ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Витрина переходит из пилота дальше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14984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СПб, Василеостровский район, квартал у ЖК «Самоцветы»: 5–10 владельческих точек услуг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ничего — ядро как есть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команда, домен с HTTPS, ключ LLM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 не захотят менять привычку — отбираем тех, кто сам жалуется на переписку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выполнен критерий успеха (слайд 11)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35274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18154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8154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47338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Соседние ниши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518154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район: кафе, пекарни, магазины у дома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518154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«меню» уже есть; словарь и подсказки модели под общепит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же; ограничиваемся предзаказом и самовывозом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заказ без оплаты не доходит до денег — меряем долю забранных заказов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заказов не ниже, чем у записи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67628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0508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0508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679692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Сети услуг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350508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районы и города через сети барбершопов, автосервисов, студий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50508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«сеть → филиал → мастер», витрина на филиал — первая доработка ядра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ролей, сопровождение владельцев сетей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 головной офис — длинный цикл продаж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ДАЛЬШЕ, ЕСЛИ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сеть переводит на витрины все свои точки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999982" y="1298448"/>
            <a:ext cx="2686050" cy="3749040"/>
          </a:xfrm>
          <a:prstGeom prst="roundRect">
            <a:avLst>
              <a:gd name="adj" fmla="val 340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82862" y="1463040"/>
            <a:ext cx="246888" cy="246888"/>
          </a:xfrm>
          <a:prstGeom prst="roundRect">
            <a:avLst>
              <a:gd name="adj" fmla="val 25926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2862" y="14630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512046" y="1444752"/>
            <a:ext cx="1991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Регионы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182862" y="1828800"/>
            <a:ext cx="232029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Ленинградская область, затем другие регионы — через центры «Мой бизнес» и МСП.РФ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82862" y="2560320"/>
            <a:ext cx="232029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времени и праздники региона; модерация витрин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РЕСУРСЫ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партнёрство, обучение консультантов, бюджет на модель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 в новых отраслях, лимит MAX API — 30 запросов в секунду</a:t>
            </a:r>
            <a:endParaRPr lang="en-US" sz="850" dirty="0"/>
          </a:p>
          <a:p>
            <a:pPr indent="0" marL="0">
              <a:lnSpc>
                <a:spcPct val="106000"/>
              </a:lnSpc>
              <a:spcBef>
                <a:spcPts val="600"/>
              </a:spcBef>
              <a:buNone/>
            </a:pPr>
            <a:r>
              <a:rPr lang="en-US" sz="850" b="1" spc="10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консультант собирает витрину вместе с предпринимателем на приёме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02920" y="5212080"/>
            <a:ext cx="11183112" cy="713232"/>
          </a:xfrm>
          <a:prstGeom prst="roundRect">
            <a:avLst>
              <a:gd name="adj" fmla="val 12821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0664" y="5303520"/>
            <a:ext cx="10707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Горизонт:</a:t>
            </a: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же механика «одно сообщение → работающий сервис в MAX» подходит не только бизнесу — продуктовые команды проверяют гипотезы без разработки, люди делают небольшие сервисы для себя. Это ядро AIRuntime; Витрина — первый вертикальный сценарий на нём.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ПИЛОТНОГО ЗАПУСКА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и для кого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Санкт-Петербург, Василеостровский район — квартал у ЖК «Самоцветы» (Уральская ул., наб. реки Смоленки). 5–10 владельческих точек услуг, которые ведут запись в личных сообщениях.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291584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11040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здесь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уже работаем в этом квартале: карта около 160 организаций по 2ГИС и Яндекс Картам и маршрут обхода (август 2026). Знаем, где решает владелец, а где — головной офис сети.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080248" y="132588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99704" y="150876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заменяет пересказ прайса и согласование времени. Приём, оплата и сама услуга остаются как были.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создаёт витрину и подтверждает записи, клиенты записываются, команда сопровождает и снимает метрики. Внешние владельцы процесса не нужны.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291584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11040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Каналы привлечения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Владельцев — лично, обходом: хозяин студии или кафе решает сам и сразу. Клиентов — ссылкой в переписке и QR-кодом на стойке.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80248" y="3108960"/>
            <a:ext cx="3605784" cy="1627632"/>
          </a:xfrm>
          <a:prstGeom prst="roundRect">
            <a:avLst>
              <a:gd name="adj" fmla="val 561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99704" y="3291840"/>
            <a:ext cx="31668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 и сроки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на «MAX для партнёров», домен с HTTPS, ключ LLM. Неделя 0 — отбор и базовая линия, недели 1–3 — пилот, неделя 4 — решение.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952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138928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доля доведённых записей, время до подтверждения, доля заявок вне рабочих часов, ручных сообщений на запись (слайд 11). </a:t>
            </a: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 успехе — соседние ниши того же района на готовом типе «меню» (слайд 18).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или замером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874520"/>
            <a:ext cx="1175004" cy="246888"/>
          </a:xfrm>
          <a:prstGeom prst="roundRect">
            <a:avLst>
              <a:gd name="adj" fmla="val 22222"/>
            </a:avLst>
          </a:prstGeom>
          <a:solidFill>
            <a:srgbClr val="D8E8FB"/>
          </a:solidFill>
          <a:ln w="12700">
            <a:solidFill>
              <a:srgbClr val="D8E8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22376" y="1874520"/>
            <a:ext cx="11750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— текстовые варианты, пересечения записей не проверяются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витрину, до 10 витрин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клиенту доставляется, если MAX разрешает боту написать этому пользователю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там, где клиенты бизнеса уже пользуются MAX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Границы объёма — слайд 12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06824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74520"/>
            <a:ext cx="206654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1874520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Заметная доля микросервисов ведёт запись вручную и считает это проблемой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опишет бизнес одним сообщением, а не бросит на полпути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 привычнее записаться в MAX, чем написать в личные сообщения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и сроков альтернатив мы не подтверждали и в расчёт эффекта не берём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1691640"/>
            <a:ext cx="3575304" cy="3246120"/>
          </a:xfrm>
          <a:prstGeom prst="roundRect">
            <a:avLst>
              <a:gd name="adj" fmla="val 281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30184" y="1874520"/>
            <a:ext cx="1860804" cy="246888"/>
          </a:xfrm>
          <a:prstGeom prst="roundRect">
            <a:avLst>
              <a:gd name="adj" fmla="val 22222"/>
            </a:avLst>
          </a:prstGeom>
          <a:solidFill>
            <a:srgbClr val="F4E0EE"/>
          </a:solidFill>
          <a:ln w="12700">
            <a:solidFill>
              <a:srgbClr val="F4E0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30184" y="1874520"/>
            <a:ext cx="18608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 и что с ними делаем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330184" y="2286000"/>
            <a:ext cx="31363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модель может неверно разобрать описание: правка одной фразой и шаблон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модели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витрина собирается шаблоном, сценарий не блокируется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</a:t>
            </a: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при росте нужна проверка содержимого витрин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5102352"/>
            <a:ext cx="11183112" cy="932688"/>
          </a:xfrm>
          <a:prstGeom prst="roundRect">
            <a:avLst>
              <a:gd name="adj" fmla="val 9804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248656"/>
            <a:ext cx="10671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подтверждено:</a:t>
            </a: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сквозной путь «описание → витрина → запись → заявка владельцу → ответ клиенту» проходит на проде целиком и покрыт 54 автотестами — включая подделку подписи, чужой токен, просроченные параметры и запись на услугу, которой в витрине нет.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" y="160020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и аудитория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40664" y="2011680"/>
            <a:ext cx="49789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трека «Эффективный бизнес»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постановка, критерии оценки, рекомендации, формат сдачи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Единый реестр субъектов МСП, июль 2026: 6,6 млн субъектов, 81,8% всех действующих юрлиц и ИП, рост 3,5% год к году (приведено по заданию трека)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Разведка квартала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 ЖК «Самоцветы», СПб, август 2026 — около 160 организаций по 2ГИС и Яндекс Картам, маршрут обхода: выбор пилотной площадки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31636" y="1417320"/>
            <a:ext cx="5454396" cy="2834640"/>
          </a:xfrm>
          <a:prstGeom prst="roundRect">
            <a:avLst>
              <a:gd name="adj" fmla="val 32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69380" y="1600200"/>
            <a:ext cx="4978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69380" y="2011680"/>
            <a:ext cx="49789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API ботов: методы, вебхуки, кнопки, лимиты запросов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OpenAPI-спецификация MAX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github.com/max-messenger/api-schema: форма кнопок и сообщений сверена по ней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стартовые параметры, контакт, «Поделиться», проверка подписи</a:t>
            </a:r>
            <a:endParaRPr lang="en-US" sz="1200" dirty="0"/>
          </a:p>
          <a:p>
            <a:pPr marL="190500" indent="-1905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</a:t>
            </a:r>
            <a:r>
              <a:rPr lang="en-US" sz="12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корневой сертификат для доступа к API платформы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48056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58952" y="4617720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актуальными разделами «API ботов», «MAX Bridge» и «Валидация данных» и с официальной спецификацией, а не с примерами из сторонних источников.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825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23825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23825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371725" y="1281113"/>
            <a:ext cx="219075" cy="21907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443163" y="1352550"/>
            <a:ext cx="76200" cy="76200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667000" y="123825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84785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860" dirty="0"/>
          </a:p>
        </p:txBody>
      </p:sp>
      <p:sp>
        <p:nvSpPr>
          <p:cNvPr id="9" name="Text 6"/>
          <p:cNvSpPr txBox="1"/>
          <p:nvPr/>
        </p:nvSpPr>
        <p:spPr>
          <a:xfrm>
            <a:off x="666750" y="21145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сообщение —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запись уже в MAX</a:t>
            </a:r>
            <a:endParaRPr lang="en-US" sz="4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581400"/>
            <a:ext cx="55245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и мини-приложение работают прямо сейчас. Опишите бизнес одним сообщением — секунд через десять у клиентов будет витрина с записью, а у вас заявки в чате.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7529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 MAX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2457450" y="47529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max.ru/t403_hakaton_max_bot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0768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2457450" y="507682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airuntime.ru/max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4006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2457450" y="54006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10550" y="1524000"/>
            <a:ext cx="3086100" cy="365760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0" dist="177800" dir="5400000">
              <a:srgbClr val="000000">
                <a:alpha val="55000"/>
              </a:srgbClr>
            </a:outerShdw>
          </a:effectLst>
        </p:spPr>
      </p:sp>
      <p:pic>
        <p:nvPicPr>
          <p:cNvPr id="18" name="Image 1" descr="qr-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650" y="1809750"/>
            <a:ext cx="2247900" cy="2247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496300" y="4229100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496300" y="453390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Откроется бот в MAX — опишите свой бизнес и получите витрину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Витрина — AIRuntime × MAX</dc:title>
  <dc:subject>PptxGenJS Presentation</dc:subject>
  <dc:creator>AIRuntime</dc:creator>
  <cp:lastModifiedBy>AIRuntime</cp:lastModifiedBy>
  <cp:revision>1</cp:revision>
  <dcterms:created xsi:type="dcterms:W3CDTF">2026-09-22T14:28:12Z</dcterms:created>
  <dcterms:modified xsi:type="dcterms:W3CDTF">2026-09-22T14:28:12Z</dcterms:modified>
</cp:coreProperties>
</file>