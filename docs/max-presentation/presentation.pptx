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СЛАЙД 1 · СЛУЖЕБНЫЙ · НЕ ОЦЕНИВАЕТСЯ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информация для проверки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984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 в MAX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298448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https://max.ru/t403_hakaton_max_bot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«Хакатон МАХ 403», user_id 395683755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86537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1865376"/>
            <a:ext cx="4343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https://airuntime.ru/max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Подключено к боту: кнопка «Открыть AIRuntime» и ссылки max.ru/t403_hakaton_max_bot?startapp=&lt;slug&gt;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259689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Git-репозиторий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194560" y="2596896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github.com/airuntime-ru/airuntime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298094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hash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194560" y="2980944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376b483180331187bd900c2dce8a18bda4ca5672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ветка main · короткий 376b483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354787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Собственный API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3547872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используется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Эндпоинты /api/v1/max/* обслуживают только мини-приложение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1148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Тестовые учётки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194560" y="4114800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нужны: вход — аккаунт MAX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роли клиента — второй аккаунт MAX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4681728"/>
            <a:ext cx="5943600" cy="1517904"/>
          </a:xfrm>
          <a:prstGeom prst="roundRect">
            <a:avLst>
              <a:gd name="adj" fmla="val 6024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22376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Запуск и переменные окружения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" y="5138928"/>
            <a:ext cx="55321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компоненты одной командой: </a:t>
            </a: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--build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MAX_BOT_TOKEN</a:t>
            </a: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передаётся в PDF для жюри; в репозитории токенов нет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MAX_BOT_USERNAME</a:t>
            </a: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t403_hakaton_max_bot</a:t>
            </a: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MAX_WEBHOOK_SECRET</a:t>
            </a: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любая строка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OPENAI_API_KEY</a:t>
            </a: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по запросу; без ключа сервис собирается шаблоном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Остальное — </a:t>
            </a: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.env.example</a:t>
            </a: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пункты README по заданию — раздел «Для проверки»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720840" y="1298448"/>
            <a:ext cx="4965192" cy="4901184"/>
          </a:xfrm>
          <a:prstGeom prst="roundRect">
            <a:avLst>
              <a:gd name="adj" fmla="val 1866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976872" y="1499616"/>
            <a:ext cx="4453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прохождения основного сценария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976872" y="1920240"/>
            <a:ext cx="4453128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max.ru/t403_hakaton_max_bot, нажать «Начать», затем «Открыть AIRuntime»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Описать бизнес </a:t>
            </a: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одним сообщением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«Автосервис на Лесной. Диагностика 1500, замена масла 900, шиномонтаж 2400. Работаем с 9 до 20» — и нажать «Собрать AIRuntime»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Через ~10 секунд сервис опубликован: ссылка, «Поделиться», «Посмотреть»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ссылку </a:t>
            </a: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 второго аккаунта MAX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это роль клиента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Выбрать услугу и время, указать имя, нажать «Записаться»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Владельцу в чат с ботом придёт заявка с кнопкой «Открыть заявки»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Нажать «Подтвердить» — клиенту придёт ответ в MAX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rk-airunt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33500"/>
            <a:ext cx="304800" cy="304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76325" y="1333500"/>
            <a:ext cx="1333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5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endParaRPr lang="en-US" sz="1425" dirty="0"/>
          </a:p>
        </p:txBody>
      </p:sp>
      <p:sp>
        <p:nvSpPr>
          <p:cNvPr id="4" name="Text 1"/>
          <p:cNvSpPr txBox="1"/>
          <p:nvPr/>
        </p:nvSpPr>
        <p:spPr>
          <a:xfrm>
            <a:off x="2152650" y="1333500"/>
            <a:ext cx="1333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DA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pic>
        <p:nvPicPr>
          <p:cNvPr id="5" name="Image 1" descr="mark-ma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1725" y="1333500"/>
            <a:ext cx="304800" cy="3048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752725" y="1333500"/>
            <a:ext cx="76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1943100"/>
            <a:ext cx="495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ТРЕК «ЭФФЕКТИВНЫЙ БИЗНЕС»</a:t>
            </a:r>
            <a:endParaRPr lang="en-US" sz="860" dirty="0"/>
          </a:p>
        </p:txBody>
      </p:sp>
      <p:sp>
        <p:nvSpPr>
          <p:cNvPr id="8" name="Text 4"/>
          <p:cNvSpPr txBox="1"/>
          <p:nvPr/>
        </p:nvSpPr>
        <p:spPr>
          <a:xfrm>
            <a:off x="647700" y="2152650"/>
            <a:ext cx="533400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endParaRPr lang="en-US" sz="6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505200"/>
            <a:ext cx="47625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BDC4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Рабочий сервис записи в MAX из одного сообщения — без разработчика, без подрядчика, без ожидания.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4810125"/>
            <a:ext cx="1905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86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5029200"/>
            <a:ext cx="2000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5" b="1" u="dash" dirty="0">
                <a:solidFill>
                  <a:srgbClr val="8F96A6"/>
                </a:solidFill>
                <a:uFill>
                  <a:solidFill>
                    <a:srgbClr val="59627A"/>
                  </a:solidFill>
                </a:uFill>
                <a:latin typeface="Calibri" pitchFamily="34" charset="0"/>
                <a:ea typeface="Calibri" pitchFamily="34" charset="-122"/>
                <a:cs typeface="Calibri" pitchFamily="34" charset="-120"/>
              </a:rPr>
              <a:t>[Название команды]</a:t>
            </a:r>
            <a:endParaRPr lang="en-US" sz="1275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5295900"/>
            <a:ext cx="2000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u="dash" dirty="0">
                <a:solidFill>
                  <a:srgbClr val="8F96A6"/>
                </a:solidFill>
                <a:uFill>
                  <a:solidFill>
                    <a:srgbClr val="59627A"/>
                  </a:solidFill>
                </a:uFill>
                <a:latin typeface="Calibri" pitchFamily="34" charset="0"/>
                <a:ea typeface="Calibri" pitchFamily="34" charset="-122"/>
                <a:cs typeface="Calibri" pitchFamily="34" charset="-120"/>
              </a:rPr>
              <a:t>[Участники и роли]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2838450" y="4810125"/>
            <a:ext cx="2381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860" dirty="0"/>
          </a:p>
        </p:txBody>
      </p:sp>
      <p:sp>
        <p:nvSpPr>
          <p:cNvPr id="14" name="Text 10"/>
          <p:cNvSpPr txBox="1"/>
          <p:nvPr/>
        </p:nvSpPr>
        <p:spPr>
          <a:xfrm>
            <a:off x="2838450" y="5029200"/>
            <a:ext cx="2571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5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 + мини-приложение</a:t>
            </a:r>
            <a:endParaRPr lang="en-US" sz="1275" dirty="0"/>
          </a:p>
        </p:txBody>
      </p:sp>
      <p:sp>
        <p:nvSpPr>
          <p:cNvPr id="15" name="Text 11"/>
          <p:cNvSpPr txBox="1"/>
          <p:nvPr/>
        </p:nvSpPr>
        <p:spPr>
          <a:xfrm>
            <a:off x="2838450" y="5295900"/>
            <a:ext cx="2571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5AC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@t403_hakaton_max_bot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5848350" y="990600"/>
            <a:ext cx="2857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ОПИСЫВАЕТ БИЗНЕС</a:t>
            </a:r>
            <a:endParaRPr lang="en-US" sz="825" dirty="0"/>
          </a:p>
        </p:txBody>
      </p:sp>
      <p:pic>
        <p:nvPicPr>
          <p:cNvPr id="17" name="Image 2" descr="bubble-own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8350" y="1257300"/>
            <a:ext cx="2590800" cy="104775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010275" y="1352550"/>
            <a:ext cx="2286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Автосервис на Лесной пр. 12. Диагностика подвески 1500, замена масла 900, шиномонтаж 2400. С 9 до 20, +7 812 000-00-00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8686800" y="723900"/>
            <a:ext cx="2762250" cy="5380863"/>
          </a:xfrm>
          <a:prstGeom prst="roundRect">
            <a:avLst>
              <a:gd name="adj" fmla="val 8200"/>
            </a:avLst>
          </a:prstGeom>
          <a:solidFill>
            <a:srgbClr val="1E2638"/>
          </a:solidFill>
          <a:ln w="9525">
            <a:solidFill>
              <a:srgbClr val="39445E"/>
            </a:solidFill>
            <a:prstDash val="solid"/>
          </a:ln>
          <a:effectLst>
            <a:outerShdw sx="100000" sy="100000" kx="0" ky="0" algn="bl" rotWithShape="0" blurRad="381000" dist="152400" dir="5400000">
              <a:srgbClr val="000000">
                <a:alpha val="55000"/>
              </a:srgbClr>
            </a:outerShdw>
          </a:effectLst>
        </p:spPr>
      </p:sp>
      <p:pic>
        <p:nvPicPr>
          <p:cNvPr id="20" name="Image 3" descr="screen-storefro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8619" y="795718"/>
            <a:ext cx="2618613" cy="5237226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6096000" y="3848100"/>
            <a:ext cx="2857500" cy="1390650"/>
          </a:xfrm>
          <a:prstGeom prst="roundRect">
            <a:avLst>
              <a:gd name="adj" fmla="val 1369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0" dist="152400" dir="5400000">
              <a:srgbClr val="000000">
                <a:alpha val="50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267450" y="4000500"/>
            <a:ext cx="209550" cy="209550"/>
          </a:xfrm>
          <a:prstGeom prst="ellipse">
            <a:avLst/>
          </a:prstGeom>
          <a:solidFill>
            <a:srgbClr val="1F8A55"/>
          </a:solidFill>
          <a:ln w="12700">
            <a:solidFill>
              <a:srgbClr val="1F8A55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267450" y="4000500"/>
            <a:ext cx="2095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950" dirty="0"/>
          </a:p>
        </p:txBody>
      </p:sp>
      <p:sp>
        <p:nvSpPr>
          <p:cNvPr id="24" name="Text 18"/>
          <p:cNvSpPr txBox="1"/>
          <p:nvPr/>
        </p:nvSpPr>
        <p:spPr>
          <a:xfrm>
            <a:off x="6562725" y="3981450"/>
            <a:ext cx="21907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 готов</a:t>
            </a:r>
            <a:endParaRPr 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6267450" y="4267200"/>
            <a:ext cx="251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Клиенты записываются по ссылке, заявки приходят в чат с ботом.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6267450" y="4743450"/>
            <a:ext cx="2514600" cy="352425"/>
          </a:xfrm>
          <a:prstGeom prst="roundRect">
            <a:avLst>
              <a:gd name="adj" fmla="val 29730"/>
            </a:avLst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6267450" y="4743450"/>
            <a:ext cx="251460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Поделиться ссылкой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ХАКАТОН MAX  ·  2026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AIRuntime: запись в MAX из одного сообщения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80160"/>
            <a:ext cx="11183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микробизнеса услуг описывает бизнес одним сообщением в мини-приложении MAX — через ~10 секунд у него опубликованный сервис с онлайн-записью. Клиенты записываются, не выходя из MAX, заявки приходят владельцу в чат.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2212848"/>
            <a:ext cx="2658618" cy="1920240"/>
          </a:xfrm>
          <a:prstGeom prst="roundRect">
            <a:avLst>
              <a:gd name="adj" fmla="val 476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22376" y="2395728"/>
            <a:ext cx="2219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кого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Самозанятые и микро-ИП в услугах с записью на время: автосервис, барбершоп, маникюр, репетитор. 1–5 человек, без сайта и CRM.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344418" y="2212848"/>
            <a:ext cx="2658618" cy="1920240"/>
          </a:xfrm>
          <a:prstGeom prst="roundRect">
            <a:avLst>
              <a:gd name="adj" fmla="val 476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63874" y="2395728"/>
            <a:ext cx="2219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 ведётся вручную в личных сообщениях: ночные заявки теряются, случаются двойные брони, прайс пересказывается каждому.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185916" y="2212848"/>
            <a:ext cx="2658618" cy="1920240"/>
          </a:xfrm>
          <a:prstGeom prst="roundRect">
            <a:avLst>
              <a:gd name="adj" fmla="val 476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05372" y="2395728"/>
            <a:ext cx="2219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 и мини-приложение в MAX: описание → сервис с услугами, ценами и временем → запись → заявка владельцу → ответ клиенту.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027414" y="2212848"/>
            <a:ext cx="2658618" cy="1920240"/>
          </a:xfrm>
          <a:prstGeom prst="roundRect">
            <a:avLst>
              <a:gd name="adj" fmla="val 476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9246870" y="2395728"/>
            <a:ext cx="2219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 круглосуточно и без переписки: клиент проходит путь сам за два касания, владельцу остаётся одна кнопка.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02920" y="4315968"/>
            <a:ext cx="2658618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85800" y="4462272"/>
            <a:ext cx="22928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4937760"/>
            <a:ext cx="2292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сообщение от владельца до готового AIRuntime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44418" y="4315968"/>
            <a:ext cx="2658618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3527298" y="4462272"/>
            <a:ext cx="22928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</a:t>
            </a:r>
            <a:r>
              <a:rPr lang="en-US" sz="14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сек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3527298" y="4937760"/>
            <a:ext cx="2292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ссылки для клиентов (замер на проде)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85916" y="4315968"/>
            <a:ext cx="2658618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368796" y="4462272"/>
            <a:ext cx="22928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21" name="Text 19"/>
          <p:cNvSpPr txBox="1"/>
          <p:nvPr/>
        </p:nvSpPr>
        <p:spPr>
          <a:xfrm>
            <a:off x="6368796" y="4937760"/>
            <a:ext cx="2292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касания клиента: выбрать услугу и время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027414" y="4315968"/>
            <a:ext cx="2658618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9210294" y="4462272"/>
            <a:ext cx="22928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200" dirty="0"/>
          </a:p>
        </p:txBody>
      </p:sp>
      <p:sp>
        <p:nvSpPr>
          <p:cNvPr id="24" name="Text 22"/>
          <p:cNvSpPr txBox="1"/>
          <p:nvPr/>
        </p:nvSpPr>
        <p:spPr>
          <a:xfrm>
            <a:off x="9210294" y="4937760"/>
            <a:ext cx="2292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строк кода и сторонних сервисов у предпринимателя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НАВИГАЦИЯ ПО КРИТЕРИЯМ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в презентации ответ на каждый критерий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Критерии и веса — из задания трека. Справа — номера слайдов, где на критерий отвечаем прямо.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5500116" cy="841248"/>
          </a:xfrm>
          <a:prstGeom prst="roundRect">
            <a:avLst>
              <a:gd name="adj" fmla="val 1087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1847088"/>
            <a:ext cx="4219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Потенциал масштабирования</a:t>
            </a:r>
            <a:r>
              <a:rPr lang="en-US" sz="9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35%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121408"/>
            <a:ext cx="4219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Контексты и регионы помимо пилота, что переносится и что адаптируется, условия, риски, порядок тиражирования по шагам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951476" y="1737360"/>
            <a:ext cx="868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17–19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02920" y="2706624"/>
            <a:ext cx="5500116" cy="841248"/>
          </a:xfrm>
          <a:prstGeom prst="roundRect">
            <a:avLst>
              <a:gd name="adj" fmla="val 1087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85800" y="2816352"/>
            <a:ext cx="4219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Пользовательская ценность</a:t>
            </a:r>
            <a:r>
              <a:rPr lang="en-US" sz="9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25%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090672"/>
            <a:ext cx="4219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Приоритетный сегмент, проблема по формуле, факты отдельно от допущений, сравнение с тем, как запись ведут сейчас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951476" y="2706624"/>
            <a:ext cx="868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5–7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02920" y="3675888"/>
            <a:ext cx="5500116" cy="841248"/>
          </a:xfrm>
          <a:prstGeom prst="roundRect">
            <a:avLst>
              <a:gd name="adj" fmla="val 1087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85800" y="3785616"/>
            <a:ext cx="4219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UX/UI и удобство</a:t>
            </a:r>
            <a:r>
              <a:rPr lang="en-US" sz="9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20%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4059936"/>
            <a:ext cx="4219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Путь владельца и клиента на реальных экранах; как интерфейс сообщает о загрузке, результате и ошибке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951476" y="3675888"/>
            <a:ext cx="868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8–10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02920" y="4645152"/>
            <a:ext cx="5500116" cy="841248"/>
          </a:xfrm>
          <a:prstGeom prst="roundRect">
            <a:avLst>
              <a:gd name="adj" fmla="val 1087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85800" y="4754880"/>
            <a:ext cx="4219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Обоснованность и целостность</a:t>
            </a:r>
            <a:r>
              <a:rPr lang="en-US" sz="9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15%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5029200"/>
            <a:ext cx="4219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Гипотеза, ожидаемый эффект с метриками, границы MVP по MoSCoW, почему продукт устроен именно так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951476" y="4645152"/>
            <a:ext cx="868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 11–13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185916" y="1737360"/>
            <a:ext cx="5500116" cy="841248"/>
          </a:xfrm>
          <a:prstGeom prst="roundRect">
            <a:avLst>
              <a:gd name="adj" fmla="val 10870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368796" y="1847088"/>
            <a:ext cx="4219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Работоспособность, интеграция, архитектура</a:t>
            </a:r>
            <a:r>
              <a:rPr lang="en-US" sz="9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30+20+20%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121408"/>
            <a:ext cx="4219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проверки, состав и связи компонентов, реальные интеграции с MAX Bot API и MAX Bridge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0634472" y="1737360"/>
            <a:ext cx="868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1, 13, 16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6185916" y="2706624"/>
            <a:ext cx="5500116" cy="841248"/>
          </a:xfrm>
          <a:prstGeom prst="roundRect">
            <a:avLst>
              <a:gd name="adj" fmla="val 10870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368796" y="2816352"/>
            <a:ext cx="4219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Стабильность, безопасность, документация</a:t>
            </a:r>
            <a:r>
              <a:rPr lang="en-US" sz="9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10+10+10%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368796" y="3090672"/>
            <a:ext cx="4219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Обработка ошибок и повторов, модель доверия, зафиксированные зависимости, README по пунктам задания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0634472" y="2706624"/>
            <a:ext cx="868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6185916" y="3675888"/>
            <a:ext cx="5500116" cy="841248"/>
          </a:xfrm>
          <a:prstGeom prst="roundRect">
            <a:avLst>
              <a:gd name="adj" fmla="val 10870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368796" y="3785616"/>
            <a:ext cx="4219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Платформенный бонус</a:t>
            </a:r>
            <a:r>
              <a:rPr lang="en-US" sz="9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+0,15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6368796" y="4059936"/>
            <a:ext cx="4219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Возможности MAX сверх минимума: контакт из аккаунта, «Поделиться» в чаты, кнопки с переходом на нужный экран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10634472" y="3675888"/>
            <a:ext cx="868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6185916" y="4645152"/>
            <a:ext cx="5500116" cy="841248"/>
          </a:xfrm>
          <a:prstGeom prst="roundRect">
            <a:avLst>
              <a:gd name="adj" fmla="val 10870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368796" y="4754880"/>
            <a:ext cx="4219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запуска (финал)</a:t>
            </a:r>
            <a:r>
              <a:rPr lang="en-US" sz="9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15%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6368796" y="5029200"/>
            <a:ext cx="4219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Первый район, каналы привлечения, участники, сроки, метрики и следующий шаг после пилота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634472" y="4645152"/>
            <a:ext cx="868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700" dirty="0"/>
          </a:p>
        </p:txBody>
      </p:sp>
      <p:sp>
        <p:nvSpPr>
          <p:cNvPr id="37" name="Text 35"/>
          <p:cNvSpPr txBox="1"/>
          <p:nvPr/>
        </p:nvSpPr>
        <p:spPr>
          <a:xfrm>
            <a:off x="502920" y="5669280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Слева — продуктовая оценка, справа (с оттенком) — техническая оценка, бонус и финал. Ограничения и допущения — слайд 20, источники — слайд 21.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ПОЛЬЗОВАТЕЛЬСКАЯ ЦЕННОСТЬ · АУДИТОРИЯ И ПРОБЛЕМА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именно и что именно болит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5897880" cy="1481328"/>
          </a:xfrm>
          <a:prstGeom prst="roundRect">
            <a:avLst>
              <a:gd name="adj" fmla="val 6173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22376" y="1508760"/>
            <a:ext cx="545896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Приоритетный сегмент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микробизнеса услуг с записью на время: 1–5 человек, без сайта и CRM, запись сейчас — в личных сообщениях. Пилотные ниши — автосервис, барбершоп, мастер маникюра. </a:t>
            </a: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 пилоте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сети и франшизы — там решает головной офис.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2944368"/>
            <a:ext cx="5897880" cy="2487168"/>
          </a:xfrm>
          <a:prstGeom prst="roundRect">
            <a:avLst>
              <a:gd name="adj" fmla="val 3676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40664" y="3127248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Формулировка проблемы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40664" y="3520440"/>
            <a:ext cx="54223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микросервиса в сфере услуг</a:t>
            </a: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 ситуации, когда клиенты пишут в личные сообщения в любое время, </a:t>
            </a: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хочет</a:t>
            </a: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принимать записи без ручного согласования каждой, </a:t>
            </a: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 сталкивается с тем</a:t>
            </a: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что онлайн-запись требует платного сервиса с настройкой либо разработки сайта или бота, </a:t>
            </a: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из-за чего</a:t>
            </a: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ведёт запись вручную — теряет ночные заявки, допускает двойные брони и тратит рабочее время на переписку.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0" y="1325880"/>
            <a:ext cx="489204" cy="246888"/>
          </a:xfrm>
          <a:prstGeom prst="roundRect">
            <a:avLst>
              <a:gd name="adj" fmla="val 22222"/>
            </a:avLst>
          </a:prstGeom>
          <a:solidFill>
            <a:srgbClr val="E3F1EB"/>
          </a:solidFill>
          <a:ln w="12700">
            <a:solidFill>
              <a:srgbClr val="E3F1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0" y="1325880"/>
            <a:ext cx="4892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1F8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Факты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164324" y="1325880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размер и динамика аудитории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583680" y="1691640"/>
            <a:ext cx="1615440" cy="1481328"/>
          </a:xfrm>
          <a:prstGeom prst="roundRect">
            <a:avLst>
              <a:gd name="adj" fmla="val 6173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766560" y="1837944"/>
            <a:ext cx="124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6,6</a:t>
            </a:r>
            <a:r>
              <a:rPr lang="en-US" sz="14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млн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313432"/>
            <a:ext cx="12496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субъектов МСП в реестре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2880360"/>
            <a:ext cx="1249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России, июль 2026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327136" y="1691640"/>
            <a:ext cx="1615440" cy="1481328"/>
          </a:xfrm>
          <a:prstGeom prst="roundRect">
            <a:avLst>
              <a:gd name="adj" fmla="val 6173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510016" y="1837944"/>
            <a:ext cx="124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81,8</a:t>
            </a:r>
            <a:r>
              <a:rPr lang="en-US" sz="14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%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8510016" y="2313432"/>
            <a:ext cx="12496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юрлиц и ИП — это МСП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510016" y="2880360"/>
            <a:ext cx="1249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России, 2026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0070592" y="1691640"/>
            <a:ext cx="1615440" cy="1481328"/>
          </a:xfrm>
          <a:prstGeom prst="roundRect">
            <a:avLst>
              <a:gd name="adj" fmla="val 6173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10253472" y="1837944"/>
            <a:ext cx="124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+3,5</a:t>
            </a:r>
            <a:r>
              <a:rPr lang="en-US" sz="14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%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10253472" y="2313432"/>
            <a:ext cx="12496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рост за год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0253472" y="2880360"/>
            <a:ext cx="1249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России, 2026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583680" y="3310128"/>
            <a:ext cx="5102352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784848" y="3456432"/>
            <a:ext cx="47000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названа в задании трека: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ценность цифрового решения — во взаимодействии с клиентами, «например, оформления заказа, записи на услугу, бронирования… непосредственно в MAX».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583680" y="4526280"/>
            <a:ext cx="763524" cy="246888"/>
          </a:xfrm>
          <a:prstGeom prst="roundRect">
            <a:avLst>
              <a:gd name="adj" fmla="val 22222"/>
            </a:avLst>
          </a:prstGeom>
          <a:solidFill>
            <a:srgbClr val="FFE8F2"/>
          </a:solidFill>
          <a:ln w="12700">
            <a:solidFill>
              <a:srgbClr val="FFE8F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583680" y="4526280"/>
            <a:ext cx="7635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Допущение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583680" y="4864608"/>
            <a:ext cx="5102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микросервисов, которые ведут запись вручную и считают это проблемой, исследованием не подтверждена. Её проверяет пилот (слайд 19), допущения собраны на слайде 20.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ПОЛЬЗОВАТЕЛЬСКАЯ ЦЕННОСТЬ · УЧАСТОК ПРОЦЕССА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меняется в пользовательском пути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не автоматизируем весь бизнес-процесс — только приём и подтверждение записи, где эффект заметен сразу.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5454396" cy="2834640"/>
          </a:xfrm>
          <a:prstGeom prst="roundRect">
            <a:avLst>
              <a:gd name="adj" fmla="val 3226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0664" y="1874520"/>
            <a:ext cx="1175004" cy="246888"/>
          </a:xfrm>
          <a:prstGeom prst="roundRect">
            <a:avLst>
              <a:gd name="adj" fmla="val 22222"/>
            </a:avLst>
          </a:prstGeom>
          <a:solidFill>
            <a:srgbClr val="F4E0EE"/>
          </a:solidFill>
          <a:ln w="12700">
            <a:solidFill>
              <a:srgbClr val="F4E0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0664" y="1874520"/>
            <a:ext cx="11750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Is — сегодня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740664" y="2286000"/>
            <a:ext cx="49789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пишет в личные сообщения или звонит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отвечает вручную, сверяется с блокнотом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Согласование времени занимает несколько сообщений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Ночные заявки остаются без ответа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 приходится пересказывать каждому заново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Подтверждение — снова вручную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31636" y="1691640"/>
            <a:ext cx="5454396" cy="2834640"/>
          </a:xfrm>
          <a:prstGeom prst="roundRect">
            <a:avLst>
              <a:gd name="adj" fmla="val 3226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69380" y="1874520"/>
            <a:ext cx="1449324" cy="246888"/>
          </a:xfrm>
          <a:prstGeom prst="roundRect">
            <a:avLst>
              <a:gd name="adj" fmla="val 22222"/>
            </a:avLst>
          </a:prstGeom>
          <a:solidFill>
            <a:srgbClr val="D5EBE6"/>
          </a:solidFill>
          <a:ln w="12700">
            <a:solidFill>
              <a:srgbClr val="D5EBE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69380" y="1874520"/>
            <a:ext cx="14493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1F8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— с AIRuntime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469380" y="2286000"/>
            <a:ext cx="49789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Исчезает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пересказ прайса: услуги и цены видны в AIRuntime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Упрощается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выбор времени: клиент берёт слот сам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собирается заявка и приходит в чат владельца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Быстрее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ответ: подтверждение — одна кнопка, клиенту приходит сообщение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Проще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результат: запись принимается круглосуточно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по-прежнему решает сам — продукт не назначает встречи за него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4709160"/>
            <a:ext cx="1118311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58952" y="4873752"/>
            <a:ext cx="106710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Гипотеза.</a:t>
            </a: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Если мы поможем владельцу микросервиса принимать записи через AIRuntime в MAX, собранной из одного сообщения, доля заявок, дошедших до подтверждения, вырастет, а время на переписку сократится — потому что клиент проходит путь сам, а владельцу остаётся одно решение. Как это проверить — слайд 11.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ПОЛЬЗОВАТЕЛЬСКАЯ ЦЕННОСТЬ · ПРЕИМУЩЕСТВО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не так, как запись ведут сейчас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Сравнение по тому, что важно владельцу микробизнеса. Цены и сроки альтернатив мы не исследовали, поэтому сравниваем качественно.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11183112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2350008"/>
                <a:gridCol w="2350008"/>
                <a:gridCol w="2350008"/>
                <a:gridCol w="235000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60" kern="0" dirty="0">
                          <a:solidFill>
                            <a:srgbClr val="79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ПЕРЕПИСКА В ЛИЧНЫХ СООБЩЕНИЯХ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60" kern="0" dirty="0">
                          <a:solidFill>
                            <a:srgbClr val="79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ОНЛАЙН-ЗАПИСИ ИЛИ CRM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60" kern="0" dirty="0">
                          <a:solidFill>
                            <a:srgbClr val="79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САЙТ ИЛИ БОТ НА ЗАКАЗ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60" kern="0" dirty="0">
                          <a:solidFill>
                            <a:srgbClr val="0077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AIRUNTIME В MAX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Запуск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уже есть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регистрация, настройка услуг и расписания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задание, подрядчик, ожидание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одно сообщение, ~10 секунд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нужен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никто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владелец разбирается в настройках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разработчик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никто: описание обычными словами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Где записывается клиент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переписке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отдельной странице или в приложении сервиса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сайте или в отдельном боте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внутри MAX, по ссылке или QR-коду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Заявка ночью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ждёт ответа до утра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принимается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принимается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принимается и сразу приходит в чат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Прайс и свободное время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пересказываются каждому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видны клиенту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видны клиенту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видны, правятся одной фразой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Телефон клиента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пишет вручную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вводит в форму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вводит в форму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одной кнопкой из аккаунта MAX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5715000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мы сознательно слабее: нет онлайн-оплаты и календаря занятости — это границы MVP, а не упущение (слайд 12).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· ОСНОВНОЙ СЦЕНАРИЙ, ЧАСТЬ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Владелец: одно сообщение → опубликованный сервис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— «Начать» в чат-боте, затем «Открыть AIRuntime». Регистрации нет: аккаунт MAX и есть вход.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293876" y="1645920"/>
            <a:ext cx="1901952" cy="3705002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6" name="Image 0" descr="screen-owner-comp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3327" y="1695371"/>
            <a:ext cx="1803050" cy="360610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5442362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Описывает бизнес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71668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Одним сообщением, как рассказал бы другу. Есть готовые примеры; кнопка активна, когда описание осмысленное.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143500" y="1645920"/>
            <a:ext cx="1901952" cy="3705002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10" name="Image 1" descr="screen-owner-build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951" y="1695371"/>
            <a:ext cx="1803050" cy="360610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352544" y="5442362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Видит, что идёт сборка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4489704" y="571668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Индикатор и подсказка не закрывать приложение; если закрыть случайно, MAX переспросит.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8993124" y="1645920"/>
            <a:ext cx="1901952" cy="3705002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14" name="Image 2" descr="screen-owner-read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2575" y="1695371"/>
            <a:ext cx="1803050" cy="360610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202168" y="5442362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Получает результат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8339328" y="571668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«✓ AIRuntime готов»: ссылка, «Поделиться» в чаты MAX, «Посмотреть» глазами клиента.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· ОСНОВНОЙ СЦЕНАРИЙ, ЧАСТЬ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Клиент: два касания до записи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открывает ссылку или QR-код владельца — сервис сразу внутри MAX, без установки и регистрации.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293876" y="1645920"/>
            <a:ext cx="1901952" cy="3705002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6" name="Image 0" descr="screen-storefro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3327" y="1695371"/>
            <a:ext cx="1803050" cy="360610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5442362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Выбор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71668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Услуги с ценами и длительностью, адрес и часы в шапке. Время появляется после выбора услуги.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143500" y="1645920"/>
            <a:ext cx="1901952" cy="3705002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10" name="Image 1" descr="screen-book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951" y="1695371"/>
            <a:ext cx="1803050" cy="360610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352544" y="5442362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Отправка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4489704" y="571668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Имя подставлено из профиля MAX, телефон — одной кнопкой. Над кнопкой видно, что именно бронируется.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8993124" y="1645920"/>
            <a:ext cx="1901952" cy="3705002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14" name="Image 2" descr="screen-customer-do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2575" y="1695371"/>
            <a:ext cx="1803050" cy="360610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202168" y="5442362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Готово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8339328" y="571668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принята: услуга и время на экране, а ответ владельца придёт сюда, в MAX.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· ОБРАТНАЯ СВЯЗЬ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→ решение владельца → ответ клиенту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3401568" cy="192024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228600" dist="76200" dir="5400000">
              <a:srgbClr val="091228">
                <a:alpha val="14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719072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· ВЛАДЕЛЬЦУ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56816"/>
            <a:ext cx="30358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Новая заявка</a:t>
            </a: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Автосервис на Лесной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Диагностика подвески · Сегодня 14:00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Пётр Клиент, +7 999 000-11-22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i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«Mazda 6, стучит подвеска»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" y="2980944"/>
            <a:ext cx="3035808" cy="347472"/>
          </a:xfrm>
          <a:prstGeom prst="roundRect">
            <a:avLst>
              <a:gd name="adj" fmla="val 23684"/>
            </a:avLst>
          </a:prstGeom>
          <a:solidFill>
            <a:srgbClr val="E5F1FF"/>
          </a:solidFill>
          <a:ln w="12700">
            <a:solidFill>
              <a:srgbClr val="E5F1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980944"/>
            <a:ext cx="3035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заявки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767328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Приходит в чат с ботом сразу, в любое время суток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70248" y="1481328"/>
            <a:ext cx="3648456" cy="2183192"/>
          </a:xfrm>
          <a:prstGeom prst="roundRect">
            <a:avLst>
              <a:gd name="adj" fmla="val 7539"/>
            </a:avLst>
          </a:prstGeom>
          <a:solidFill>
            <a:srgbClr val="F2F4F7"/>
          </a:solidFill>
          <a:ln w="9525">
            <a:solidFill>
              <a:srgbClr val="E3E8EF"/>
            </a:solidFill>
            <a:prstDash val="solid"/>
          </a:ln>
          <a:effectLst>
            <a:outerShdw sx="100000" sy="100000" kx="0" ky="0" algn="bl" rotWithShape="0" blurRad="228600" dist="76200" dir="5400000">
              <a:srgbClr val="091228">
                <a:alpha val="18000"/>
              </a:srgbClr>
            </a:outerShdw>
          </a:effectLst>
        </p:spPr>
      </p:sp>
      <p:pic>
        <p:nvPicPr>
          <p:cNvPr id="11" name="Image 0" descr="card-owner-le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34256" y="1545336"/>
            <a:ext cx="3520440" cy="205517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270248" y="3767328"/>
            <a:ext cx="3648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кабинете — «Подтвердить» или «Отклонить» одной кнопкой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284464" y="1691640"/>
            <a:ext cx="3401568" cy="1691640"/>
          </a:xfrm>
          <a:prstGeom prst="roundRect">
            <a:avLst>
              <a:gd name="adj" fmla="val 8649"/>
            </a:avLst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228600" dist="76200" dir="5400000">
              <a:srgbClr val="091228">
                <a:alpha val="14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467344" y="1837944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· КЛИЕНТУ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8467344" y="2075688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 подтверждена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Автосервис на Лесной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Диагностика подвески · Сегодня 14:00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467344" y="2871216"/>
            <a:ext cx="3035808" cy="347472"/>
          </a:xfrm>
          <a:prstGeom prst="roundRect">
            <a:avLst>
              <a:gd name="adj" fmla="val 23684"/>
            </a:avLst>
          </a:prstGeom>
          <a:solidFill>
            <a:srgbClr val="E5F1FF"/>
          </a:solidFill>
          <a:ln w="12700">
            <a:solidFill>
              <a:srgbClr val="E5F1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467344" y="2871216"/>
            <a:ext cx="3035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AIRuntime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284464" y="3767328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Клиенту в MAX — туда же, где он записывался. При отказе — кнопка «Выбрать другое время»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3959352" y="233172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7973568" y="233172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502920" y="4572000"/>
            <a:ext cx="11183112" cy="114300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22376" y="4727448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Загрузка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Скелетоны экрана и индикатор сборки AIRuntime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3465576" y="4727448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«AIRuntime готов», «Заявка принята», статусы заявок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208776" y="4727448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Понятный текст и «Повторить»; введённое не теряется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8951976" y="4727448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тупиков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Каждое сообщение бота открывает нужный экран; в предпросмотре — «Назад»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ОБОСНОВАННОСТЬ · ОЖИДАЕМЫЙ ЭФФЕКТ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должно измениться и как это проверить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Улучшаем один участок — приём и подтверждение записи. На этапе хакатона это гипотезы; важно, что каждую можно измерить после пилота.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54396" cy="3749040"/>
          </a:xfrm>
          <a:prstGeom prst="roundRect">
            <a:avLst>
              <a:gd name="adj" fmla="val 2439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40664" y="1965960"/>
            <a:ext cx="4978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Метрики, которые снимает сам продукт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40664" y="2377440"/>
            <a:ext cx="497890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доведённых записей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открыл AIRuntime → отправил заявку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до подтверждения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от заявки до нажатия владельцем кнопки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заявок вне рабочих часов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прямой замер того, что раньше терялось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Ручных сообщений на одну запись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целевое значение 0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от «описал» до первой заявки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скорость выхода на результат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40664" y="4956048"/>
            <a:ext cx="49789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события уже проходят через наш бэкенд — отдельная аналитика для замера не нужна.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31636" y="1783080"/>
            <a:ext cx="5454396" cy="3749040"/>
          </a:xfrm>
          <a:prstGeom prst="roundRect">
            <a:avLst>
              <a:gd name="adj" fmla="val 2439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69380" y="1965960"/>
            <a:ext cx="4978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измеряем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469380" y="2377440"/>
            <a:ext cx="497890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Базовая линия снимается </a:t>
            </a: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запуска: владелец неделю считает заявки и время на переписку вручную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— три недели через AIRuntime, сравнение по тем же величинам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Сравниваем на одном и том же бизнесе, а не между разными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69380" y="4023360"/>
            <a:ext cx="497890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C7DB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52260" y="4187952"/>
            <a:ext cx="46131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Критерий успеха пилота:</a:t>
            </a: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владелец после пилота не возвращается к ручной записи, и хотя бы одна заявка пришла вне рабочих часов и была подтверждена.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ОБОСНОВАННОСТЬ · ГРАНИЦЫ MVP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вошло в MVP и что сознательно нет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закрывает один сценарий от описания до ответа клиенту. Приоритеты — по MoSCoW; Won't Have — осознанное ограничение объёма.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2658618" cy="2697480"/>
          </a:xfrm>
          <a:prstGeom prst="roundRect">
            <a:avLst>
              <a:gd name="adj" fmla="val 3439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65960"/>
            <a:ext cx="420624" cy="246888"/>
          </a:xfrm>
          <a:prstGeom prst="roundRect">
            <a:avLst>
              <a:gd name="adj" fmla="val 22222"/>
            </a:avLst>
          </a:prstGeom>
          <a:solidFill>
            <a:srgbClr val="D7E8E5"/>
          </a:solidFill>
          <a:ln w="12700">
            <a:solidFill>
              <a:srgbClr val="D7E8E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22376" y="1965960"/>
            <a:ext cx="420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1F8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965960"/>
            <a:ext cx="168935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сделано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22376" y="2377440"/>
            <a:ext cx="221970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Описание → опубликованный сервис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 клиента внутри MAX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владельцу в чат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Подтверждение и ответ клиенту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44418" y="1783080"/>
            <a:ext cx="2658618" cy="2697480"/>
          </a:xfrm>
          <a:prstGeom prst="roundRect">
            <a:avLst>
              <a:gd name="adj" fmla="val 3439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63874" y="1965960"/>
            <a:ext cx="557784" cy="246888"/>
          </a:xfrm>
          <a:prstGeom prst="roundRect">
            <a:avLst>
              <a:gd name="adj" fmla="val 22222"/>
            </a:avLst>
          </a:prstGeom>
          <a:solidFill>
            <a:srgbClr val="D8E8FB"/>
          </a:solidFill>
          <a:ln w="12700">
            <a:solidFill>
              <a:srgbClr val="D8E8F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63874" y="1965960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213098" y="1965960"/>
            <a:ext cx="155219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сделано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563874" y="2377440"/>
            <a:ext cx="221970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Правка одной фразой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Скрыть, опубликовать, удалить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«Поделиться» в чаты MAX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из аккаунта MAX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Просмотр глазами клиента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85916" y="1783080"/>
            <a:ext cx="2658618" cy="2697480"/>
          </a:xfrm>
          <a:prstGeom prst="roundRect">
            <a:avLst>
              <a:gd name="adj" fmla="val 3439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5372" y="1965960"/>
            <a:ext cx="489204" cy="246888"/>
          </a:xfrm>
          <a:prstGeom prst="roundRect">
            <a:avLst>
              <a:gd name="adj" fmla="val 22222"/>
            </a:avLst>
          </a:prstGeom>
          <a:solidFill>
            <a:srgbClr val="E6E0FB"/>
          </a:solidFill>
          <a:ln w="12700">
            <a:solidFill>
              <a:srgbClr val="E6E0F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5372" y="1965960"/>
            <a:ext cx="4892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7B2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986016" y="1965960"/>
            <a:ext cx="162077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пилота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405372" y="2377440"/>
            <a:ext cx="221970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Напоминание клиенту накануне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 занятости вместо текстовых слотов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«аренда»: сутки и залог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027414" y="1783080"/>
            <a:ext cx="2658618" cy="2697480"/>
          </a:xfrm>
          <a:prstGeom prst="roundRect">
            <a:avLst>
              <a:gd name="adj" fmla="val 3439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246870" y="1965960"/>
            <a:ext cx="489204" cy="246888"/>
          </a:xfrm>
          <a:prstGeom prst="roundRect">
            <a:avLst>
              <a:gd name="adj" fmla="val 22222"/>
            </a:avLst>
          </a:prstGeom>
          <a:solidFill>
            <a:srgbClr val="E1E4E9"/>
          </a:solidFill>
          <a:ln w="12700">
            <a:solidFill>
              <a:srgbClr val="E1E4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46870" y="1965960"/>
            <a:ext cx="4892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WON'T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9827514" y="1965960"/>
            <a:ext cx="162077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сознательно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9246870" y="2377440"/>
            <a:ext cx="221970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Онлайн-оплата: сервис доводит до заявки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Сотрудники и роли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 с CRM и внешними календарями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под каждый бизнес: AIRuntime — это данные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" y="4663440"/>
            <a:ext cx="11183112" cy="868680"/>
          </a:xfrm>
          <a:prstGeom prst="roundRect">
            <a:avLst>
              <a:gd name="adj" fmla="val 10526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8952" y="4800600"/>
            <a:ext cx="10671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границы именно такие:</a:t>
            </a: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каждый пункт Must нужен, чтобы клиент дошёл от ссылки до подтверждённой записи; без любого из них сценарий обрывается. Всё, что требует денег клиента, сотрудников или чужих систем, откладываем до проверки главной гипотезы.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ОЦЕНКА · АРХИТЕКТУРА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решения и почему он такой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9844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МЕССЕНДЖЕР MAX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129844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БЭКЕНД AIRUNTIME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595360" y="1298448"/>
            <a:ext cx="3090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ХРАНЕНИЕ И ИНФРАСТРУКТУРА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3246120" cy="713232"/>
          </a:xfrm>
          <a:prstGeom prst="roundRect">
            <a:avLst>
              <a:gd name="adj" fmla="val 11538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1709928"/>
            <a:ext cx="2843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1984248"/>
            <a:ext cx="2843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приветствие и уведомления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468880"/>
            <a:ext cx="3246120" cy="713232"/>
          </a:xfrm>
          <a:prstGeom prst="roundRect">
            <a:avLst>
              <a:gd name="adj" fmla="val 11538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4088" y="2578608"/>
            <a:ext cx="2843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04088" y="2852928"/>
            <a:ext cx="2843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создание, сервис, заявки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0" y="1600200"/>
            <a:ext cx="3566160" cy="713232"/>
          </a:xfrm>
          <a:prstGeom prst="roundRect">
            <a:avLst>
              <a:gd name="adj" fmla="val 1153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73168" y="1709928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Вебхук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773168" y="1984248"/>
            <a:ext cx="3163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секрет в пути, всегда 200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0" y="2468880"/>
            <a:ext cx="3566160" cy="713232"/>
          </a:xfrm>
          <a:prstGeom prst="roundRect">
            <a:avLst>
              <a:gd name="adj" fmla="val 1153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73168" y="2578608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мини-аппа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773168" y="2852928"/>
            <a:ext cx="3163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— подпись initData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0" y="3337560"/>
            <a:ext cx="3566160" cy="713232"/>
          </a:xfrm>
          <a:prstGeom prst="roundRect">
            <a:avLst>
              <a:gd name="adj" fmla="val 1153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73168" y="3447288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Генератор сервиса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4773168" y="3721608"/>
            <a:ext cx="3163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→ валидируемый конфиг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595360" y="1600200"/>
            <a:ext cx="3090672" cy="713232"/>
          </a:xfrm>
          <a:prstGeom prst="roundRect">
            <a:avLst>
              <a:gd name="adj" fmla="val 1153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796528" y="1709928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796528" y="1984248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владельцы, сервисы, заявки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595360" y="2468880"/>
            <a:ext cx="3090672" cy="713232"/>
          </a:xfrm>
          <a:prstGeom prst="roundRect">
            <a:avLst>
              <a:gd name="adj" fmla="val 1153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796528" y="2578608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Traefik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8796528" y="2852928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HTTPS, сертификат Минцифры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595360" y="3337560"/>
            <a:ext cx="3090672" cy="713232"/>
          </a:xfrm>
          <a:prstGeom prst="roundRect">
            <a:avLst>
              <a:gd name="adj" fmla="val 1153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96528" y="3447288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LLM-провайдер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8796528" y="3721608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внешний, с фоллбэком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803904" y="1956816"/>
            <a:ext cx="71323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3803904" y="2825496"/>
            <a:ext cx="71323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193024" y="1956816"/>
            <a:ext cx="34747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8193024" y="2825496"/>
            <a:ext cx="34747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193024" y="3694176"/>
            <a:ext cx="34747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6355080" y="3200400"/>
            <a:ext cx="0" cy="118872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3822192" y="169164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9A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обновления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3822192" y="256032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9A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initData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02920" y="4315968"/>
            <a:ext cx="3575304" cy="1874520"/>
          </a:xfrm>
          <a:prstGeom prst="roundRect">
            <a:avLst>
              <a:gd name="adj" fmla="val 487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722376" y="4498848"/>
            <a:ext cx="31363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 — это данные, а не код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заполняет схему, а не пишет программу: один мультитенантный мини-апп рендерит все сервисы. «Описал → клиент может записаться» занимает секунды, а кривое поле обрезает валидация.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4306824" y="4315968"/>
            <a:ext cx="3575304" cy="1874520"/>
          </a:xfrm>
          <a:prstGeom prst="roundRect">
            <a:avLst>
              <a:gd name="adj" fmla="val 487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4526280" y="4498848"/>
            <a:ext cx="31363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— вход, мини-приложение — работа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советует задание: чат-бот — для уведомлений и коротких действий, форма, каталог и список заявок — в мини-приложении. Первая версия с мастером в чате делала сервис из любого сообщения, мы её заменили.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8110728" y="4315968"/>
            <a:ext cx="3575304" cy="1874520"/>
          </a:xfrm>
          <a:prstGeom prst="roundRect">
            <a:avLst>
              <a:gd name="adj" fmla="val 487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8330184" y="4498848"/>
            <a:ext cx="31363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 приложение, две роли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 подключено к чат-боту и не живёт отдельно. Роль задаёт стартовый параметр: без него — кабинет владельца, со слагом сервиса — страница для клиента.</a:t>
            </a:r>
            <a:endParaRPr lang="en-US" sz="1350" dirty="0"/>
          </a:p>
        </p:txBody>
      </p:sp>
      <p:sp>
        <p:nvSpPr>
          <p:cNvPr id="45" name="Text 4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ОЦЕНКА · НАДЁЖНОСТЬ И БЕЗОПАСНОСТЬ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Стабильность, безопасность, проверяемость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3575304" cy="3703320"/>
          </a:xfrm>
          <a:prstGeom prst="roundRect">
            <a:avLst>
              <a:gd name="adj" fmla="val 255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22376" y="1499616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Стабильность и ошибки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22376" y="1901952"/>
            <a:ext cx="313639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Вебхук всегда отвечает 200 и не вызывает модель — MAX не повторяет доставку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Запрос к MAX API повторяется, только если не дошёл: без дублей сообщений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— до трёх попыток, затем шаблон: сценарий не упирается в тупик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в интерфейсе — понятный текст и «Повторить», введённое не теряется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Повторный прогон сценария — новый сервис со своим адресом; после 10 — понятное сообщение, лишние удаляются кнопкой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06824" y="1325880"/>
            <a:ext cx="3575304" cy="3703320"/>
          </a:xfrm>
          <a:prstGeom prst="roundRect">
            <a:avLst>
              <a:gd name="adj" fmla="val 255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499616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Безопасность и данные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01952"/>
            <a:ext cx="313639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Личность в мини-приложении — только из подписи initData по токену бота, срок жизни — час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Вебхук — секрет в пути, в логах маскируется; неверный секрет → 404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видит и меняет только свои сервисы и заявки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Ввод пользователей экранируется в сообщениях бота; в модель уходят только описание и правки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Секретов в репозитории нет, .env.example без значений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10728" y="1325880"/>
            <a:ext cx="3575304" cy="3703320"/>
          </a:xfrm>
          <a:prstGeom prst="roundRect">
            <a:avLst>
              <a:gd name="adj" fmla="val 255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30184" y="1499616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Воспроизводимость и документация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8330184" y="1901952"/>
            <a:ext cx="313639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локальные компоненты — одной командой docker compose up --build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Версии зафиксированы: requirements.txt + requirements.lock, package-lock.json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закрывает пункты задания по порядку, с таблицей проверки и ожидаемыми результатами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автотеста: подделка подписи, чужой токен, чужие сервисы, сквозной сценарий через HTTP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5193792"/>
            <a:ext cx="11183112" cy="868680"/>
          </a:xfrm>
          <a:prstGeom prst="roundRect">
            <a:avLst>
              <a:gd name="adj" fmla="val 10526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58952" y="5340096"/>
            <a:ext cx="106710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Проверено на проде: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сервис из описания собирается за ~9 секунд с реальной моделью, правка — за ~3 секунды; сообщения бота с баннером и кнопками проходят валидацию MAX API.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ПЛАТФОРМЕННЫЙ БОНУС · ВОЗМОЖНОСТИ MAX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берём у MAX сверх минимума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Минимум задания — чат-бот с подключённым мини-приложением. Всё ниже — сверх него, и каждая возможность работает в основном сценарии от начала до результата.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10512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22376" y="1975104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requestContact()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22376" y="2340864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клиента из аккаунта MAX одной кнопкой. Запись без ввода номера — меньше ошибок и шагов в форме.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06824" y="1810512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26280" y="1975104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shareMaxContent()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340864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«Поделиться» открывает родной экран MAX «Отправить в чат»: владелец раздаёт ссылку клиентам, не выходя из мессенджера.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110728" y="1810512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330184" y="1975104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Кнопки </a:t>
            </a: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open_app</a:t>
            </a: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 </a:t>
            </a: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payload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330184" y="2340864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Каждое сообщение бота открывает нужный экран: владельцу — заявки, клиенту — его сервис. Диплинк startapp — для ссылки и QR-кода.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438144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22376" y="3602736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из </a:t>
            </a: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initData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" y="3968496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Имя клиента уже подставлено в форму записи, а владелец входит без регистрации — аккаунт MAX и есть вход.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06824" y="3438144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526280" y="3602736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BackButton</a:t>
            </a: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подтверждение закрытия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26280" y="3968496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Родная кнопка «Назад» в предпросмотре; если закрыть приложение во время сборки, MAX переспросит.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110728" y="3438144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330184" y="3602736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HapticFeedback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330184" y="3968496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Тактильный отклик на ключевые действия на телефоне: сборка готова, заявка подтверждена.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02920" y="5120640"/>
            <a:ext cx="11183112" cy="868680"/>
          </a:xfrm>
          <a:prstGeom prst="roundRect">
            <a:avLst>
              <a:gd name="adj" fmla="val 10526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58952" y="5266944"/>
            <a:ext cx="106710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Мобильная и веб-версия MAX: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одна вёрстка, проверенная от 320 px. Если клиент MAX не поддерживает метод Bridge, приложение мягко обходится без него — например, «Поделиться» превращается в копирование ссылки.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ОЦЕНКА · ДАННЫЕ И ИНТЕГРАЦИИ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Откуда берутся данные и что мы с ними делаем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5477256" cy="2103120"/>
          </a:xfrm>
          <a:prstGeom prst="roundRect">
            <a:avLst>
              <a:gd name="adj" fmla="val 434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0664" y="1490472"/>
            <a:ext cx="5001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в решении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40664" y="1874520"/>
            <a:ext cx="500176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Описание бизнеса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вводит сам владелец в мини-приложении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и идентификатор MAX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из подписанных стартовых параметров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клиента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только если клиент сам поделился через MAX или ввёл вручную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Заявки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то, что клиент выбрал в сервисе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3593592"/>
            <a:ext cx="5477256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40664" y="3758184"/>
            <a:ext cx="5001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работы с моделью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740664" y="4142232"/>
            <a:ext cx="50017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только структурирует текст владельца: цены и контакты не придумывает — чего нет в описании, остаётся пустым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владелец видит сразу и правит одной фразой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недоступна — сервис собирается шаблоном, сценарий не блокируется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08776" y="1325880"/>
            <a:ext cx="5477256" cy="2331720"/>
          </a:xfrm>
          <a:prstGeom prst="roundRect">
            <a:avLst>
              <a:gd name="adj" fmla="val 392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46520" y="1490472"/>
            <a:ext cx="5001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 — все реальные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1874520"/>
            <a:ext cx="50017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Bot API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platform-api2.max.ru: вебхук, сообщения, кнопки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Bridge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стартовые параметры, контакт, «Поделиться», навигация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LLM-провайдер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описание → конфигурация сервиса, с детерминированным фоллбэком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Государственные информационные системы </a:t>
            </a: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используются и не имитируются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08776" y="3822192"/>
            <a:ext cx="5477256" cy="1737360"/>
          </a:xfrm>
          <a:prstGeom prst="roundRect">
            <a:avLst>
              <a:gd name="adj" fmla="val 5263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28232" y="4005072"/>
            <a:ext cx="50383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Демонстрационные данные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«Автосервис на Лесной» и заявки на слайдах 8–10 — демо: не реальные организации и клиенты. Сервисы созданы через тот же продуктовый сценарий, а экраны сняты с подставленными демо-данными.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ПОТЕНЦИАЛ МАСШТАБИРОВАНИЯ · ЯДРО И ПЕРЕМЕННАЯ ЧАСТЬ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переносится без изменений, а что адаптируется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тиражируется не потому, что перечислено много регионов, а потому, что понятно, какая часть меняется.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5454396" cy="2103120"/>
          </a:xfrm>
          <a:prstGeom prst="roundRect">
            <a:avLst>
              <a:gd name="adj" fmla="val 4348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40664" y="1920240"/>
            <a:ext cx="4978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Ядро — переносится без изменений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40664" y="2304288"/>
            <a:ext cx="49789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Механика «одно сообщение → работающий сервис в MAX»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сервиса: позиции, цены, длительность, время, поля заявки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заявки: клиент → чат владельца → ответ клиенту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доверия и проверка подписи стартовых параметров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Мультитенантный рендер: новый сервис не требует деплоя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31636" y="1737360"/>
            <a:ext cx="5454396" cy="2103120"/>
          </a:xfrm>
          <a:prstGeom prst="roundRect">
            <a:avLst>
              <a:gd name="adj" fmla="val 434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69380" y="1920240"/>
            <a:ext cx="4978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Переменная часть — адаптируется под контекст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69380" y="2304288"/>
            <a:ext cx="49789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сервиса: запись / меню / заявка —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типа уже есть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Словарь отрасли в подсказках модели: услуга, позиция, объект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времени: длительность, часы работы, праздники региона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участников: мастер → сотрудники → филиалы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Интеграции: календарь, складские остатки, оплата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4041648"/>
            <a:ext cx="11183112" cy="1115568"/>
          </a:xfrm>
          <a:prstGeom prst="roundRect">
            <a:avLst>
              <a:gd name="adj" fmla="val 8197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58952" y="4206240"/>
            <a:ext cx="106710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ещё та же проблема — «клиент хочет записаться или заказать, а владелец отвечает вручную»:</a:t>
            </a:r>
            <a:r>
              <a:rPr lang="en-US" sz="12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кафе и пекарни (предзаказ), аренда инвентаря и помещений, секции и студии (запись на занятия), ремонт и бытовые услуги (вызов мастера). Каждое направление использует готовый тип сервиса и меняет только переменную часть. Порядок — на следующем слайде.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ПОТЕНЦИАЛ МАСШТАБИРОВАНИЯ · ПОРЯДОК ТИРАЖИРОВАНИЯ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AIRuntime переходит из пилота дальше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686050" cy="3749040"/>
          </a:xfrm>
          <a:prstGeom prst="roundRect">
            <a:avLst>
              <a:gd name="adj" fmla="val 3404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463040"/>
            <a:ext cx="246888" cy="246888"/>
          </a:xfrm>
          <a:prstGeom prst="roundRect">
            <a:avLst>
              <a:gd name="adj" fmla="val 25926"/>
            </a:avLst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46304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14984" y="1444752"/>
            <a:ext cx="1991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28800"/>
            <a:ext cx="23202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СПб, Василеостровский район, квартал у ЖК «Самоцветы»: 5–10 владельческих точек услуг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560320"/>
            <a:ext cx="232029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АДАПТИРУЕМ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ничего — ядро как есть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РЕСУРСЫ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команда, домен с HTTPS, ключ LLM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владельцы не захотят менять привычку — отбираем тех, кто сам жалуется на переписку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ДАЛЬШЕ, ЕСЛИ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выполнен критерий успеха (слайд 11)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335274" y="1298448"/>
            <a:ext cx="2686050" cy="3749040"/>
          </a:xfrm>
          <a:prstGeom prst="roundRect">
            <a:avLst>
              <a:gd name="adj" fmla="val 3404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18154" y="1463040"/>
            <a:ext cx="246888" cy="246888"/>
          </a:xfrm>
          <a:prstGeom prst="roundRect">
            <a:avLst>
              <a:gd name="adj" fmla="val 25926"/>
            </a:avLst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18154" y="146304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847338" y="1444752"/>
            <a:ext cx="1991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Соседние ниши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3518154" y="1828800"/>
            <a:ext cx="23202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Тот же район: кафе, пекарни, магазины у дома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518154" y="2560320"/>
            <a:ext cx="232029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АДАПТИРУЕМ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«меню» уже есть; словарь и подсказки модели под общепит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РЕСУРСЫ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же; ограничиваемся предзаказом и самовывозом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заказ без оплаты не доходит до денег — меряем долю забранных заказов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ДАЛЬШЕ, ЕСЛИ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доведённых заказов не ниже, чем у записи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167628" y="1298448"/>
            <a:ext cx="2686050" cy="3749040"/>
          </a:xfrm>
          <a:prstGeom prst="roundRect">
            <a:avLst>
              <a:gd name="adj" fmla="val 3404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50508" y="1463040"/>
            <a:ext cx="246888" cy="246888"/>
          </a:xfrm>
          <a:prstGeom prst="roundRect">
            <a:avLst>
              <a:gd name="adj" fmla="val 25926"/>
            </a:avLst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50508" y="146304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679692" y="1444752"/>
            <a:ext cx="1991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Сети услуг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6350508" y="1828800"/>
            <a:ext cx="23202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Другие районы и города через сети барбершопов, автосервисов, студий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50508" y="2560320"/>
            <a:ext cx="232029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АДАПТИРУЕМ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«сеть → филиал → мастер», сервис на филиал — первая доработка ядра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РЕСУРСЫ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разработка ролей, сопровождение владельцев сетей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решает головной офис — длинный цикл продаж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ДАЛЬШЕ, ЕСЛИ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сеть переводит на AIRuntime все свои точки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8999982" y="1298448"/>
            <a:ext cx="2686050" cy="3749040"/>
          </a:xfrm>
          <a:prstGeom prst="roundRect">
            <a:avLst>
              <a:gd name="adj" fmla="val 3404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182862" y="1463040"/>
            <a:ext cx="246888" cy="246888"/>
          </a:xfrm>
          <a:prstGeom prst="roundRect">
            <a:avLst>
              <a:gd name="adj" fmla="val 25926"/>
            </a:avLst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82862" y="146304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512046" y="1444752"/>
            <a:ext cx="1991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Регионы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9182862" y="1828800"/>
            <a:ext cx="23202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Ленинградская область, затем другие регионы — через центры «Мой бизнес» и МСП.РФ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182862" y="2560320"/>
            <a:ext cx="232029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АДАПТИРУЕМ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времени и праздники региона; модерация сервисов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РЕСУРСЫ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партнёрство, обучение консультантов, бюджет на модель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генерации в новых отраслях, лимит MAX API — 30 запросов в секунду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МЕХАНИКА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консультант собирает сервис вместе с предпринимателем на приёме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02920" y="5212080"/>
            <a:ext cx="11183112" cy="713232"/>
          </a:xfrm>
          <a:prstGeom prst="roundRect">
            <a:avLst>
              <a:gd name="adj" fmla="val 12821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40664" y="5303520"/>
            <a:ext cx="10707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Горизонт:</a:t>
            </a: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же механика «одно сообщение → работающий сервис в MAX» подходит не только бизнесу — продуктовые команды проверяют гипотезы без разработки, люди делают небольшие сервисы для себя. Это ядро AIRuntime: первый вертикальный сценарий на этой механике.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ПИЛОТНОГО ЗАПУСКА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Первый ограниченный запуск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3605784" cy="1627632"/>
          </a:xfrm>
          <a:prstGeom prst="roundRect">
            <a:avLst>
              <a:gd name="adj" fmla="val 5618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22376" y="1508760"/>
            <a:ext cx="31668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и для кого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Санкт-Петербург, Василеостровский район — квартал у ЖК «Самоцветы» (Уральская ул., наб. реки Смоленки). 5–10 владельческих точек услуг, которые ведут запись в личных сообщениях.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291584" y="1325880"/>
            <a:ext cx="3605784" cy="1627632"/>
          </a:xfrm>
          <a:prstGeom prst="roundRect">
            <a:avLst>
              <a:gd name="adj" fmla="val 561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511040" y="1508760"/>
            <a:ext cx="31668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здесь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уже работаем в этом квартале: карта около 160 организаций по 2ГИС и Яндекс Картам и маршрут обхода (август 2026). Знаем, где решает владелец, а где — головной офис сети.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080248" y="1325880"/>
            <a:ext cx="3605784" cy="1627632"/>
          </a:xfrm>
          <a:prstGeom prst="roundRect">
            <a:avLst>
              <a:gd name="adj" fmla="val 561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99704" y="1508760"/>
            <a:ext cx="31668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встроится в процесс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 заменяет пересказ прайса и согласование времени. Приём, оплата и сама услуга остаются как были.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3108960"/>
            <a:ext cx="3605784" cy="1627632"/>
          </a:xfrm>
          <a:prstGeom prst="roundRect">
            <a:avLst>
              <a:gd name="adj" fmla="val 561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22376" y="3291840"/>
            <a:ext cx="31668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участвует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создаёт сервис и подтверждает записи, клиенты записываются, команда сопровождает и снимает метрики. Внешние владельцы процесса не нужны.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4291584" y="3108960"/>
            <a:ext cx="3605784" cy="1627632"/>
          </a:xfrm>
          <a:prstGeom prst="roundRect">
            <a:avLst>
              <a:gd name="adj" fmla="val 561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11040" y="3291840"/>
            <a:ext cx="31668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Каналы привлечения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Владельцев — лично, обходом: хозяин студии или кафе решает сам и сразу. Клиентов — ссылкой в переписке и QR-кодом на стойке.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080248" y="3108960"/>
            <a:ext cx="3605784" cy="1627632"/>
          </a:xfrm>
          <a:prstGeom prst="roundRect">
            <a:avLst>
              <a:gd name="adj" fmla="val 561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99704" y="3291840"/>
            <a:ext cx="31668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понадобится и сроки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на «MAX для партнёров», домен с HTTPS, ключ LLM. Неделя 0 — отбор и базовая линия, недели 1–3 — пилот, неделя 4 — решение.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02920" y="4983480"/>
            <a:ext cx="11183112" cy="960120"/>
          </a:xfrm>
          <a:prstGeom prst="roundRect">
            <a:avLst>
              <a:gd name="adj" fmla="val 9524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58952" y="5138928"/>
            <a:ext cx="10671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пилота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доля доведённых записей, время до подтверждения, доля заявок вне рабочих часов, ручных сообщений на запись (слайд 11). </a:t>
            </a: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шаг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при успехе — соседние ниши того же района на готовом типе «меню» (слайд 18).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ОГРАНИЧЕНИЯ, РИСКИ, ДОПУЩЕНИЯ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знаем и чего пока не знаем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Разделяем подтверждённое источником или замером и то, что остаётся нашей гипотезой.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3575304" cy="3246120"/>
          </a:xfrm>
          <a:prstGeom prst="roundRect">
            <a:avLst>
              <a:gd name="adj" fmla="val 2817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874520"/>
            <a:ext cx="1175004" cy="246888"/>
          </a:xfrm>
          <a:prstGeom prst="roundRect">
            <a:avLst>
              <a:gd name="adj" fmla="val 22222"/>
            </a:avLst>
          </a:prstGeom>
          <a:solidFill>
            <a:srgbClr val="D8E8FB"/>
          </a:solidFill>
          <a:ln w="12700">
            <a:solidFill>
              <a:srgbClr val="D8E8F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22376" y="1874520"/>
            <a:ext cx="11750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 MVP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722376" y="2286000"/>
            <a:ext cx="313639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— текстовые варианты, пересечения записей не проверяются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владелец на сервис, до 10 сервисов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 клиенту доставляется, если MAX разрешает боту написать этому пользователю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там, где клиенты бизнеса уже пользуются MAX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Границы объёма — слайд 12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06824" y="1691640"/>
            <a:ext cx="3575304" cy="3246120"/>
          </a:xfrm>
          <a:prstGeom prst="roundRect">
            <a:avLst>
              <a:gd name="adj" fmla="val 2817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1874520"/>
            <a:ext cx="2066544" cy="246888"/>
          </a:xfrm>
          <a:prstGeom prst="roundRect">
            <a:avLst>
              <a:gd name="adj" fmla="val 22222"/>
            </a:avLst>
          </a:prstGeom>
          <a:solidFill>
            <a:srgbClr val="F4E0EE"/>
          </a:solidFill>
          <a:ln w="12700">
            <a:solidFill>
              <a:srgbClr val="F4E0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26280" y="1874520"/>
            <a:ext cx="20665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Допущения — требуют проверки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286000"/>
            <a:ext cx="313639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Заметная доля микросервисов ведёт запись вручную и считает это проблемой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опишет бизнес одним сообщением, а не бросит на полпути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Клиенту привычнее записаться в MAX, чем написать в личные сообщения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Оценки стоимости и сроков альтернатив мы не подтверждали и в расчёт эффекта не берём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10728" y="1691640"/>
            <a:ext cx="3575304" cy="3246120"/>
          </a:xfrm>
          <a:prstGeom prst="roundRect">
            <a:avLst>
              <a:gd name="adj" fmla="val 2817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30184" y="1874520"/>
            <a:ext cx="1860804" cy="246888"/>
          </a:xfrm>
          <a:prstGeom prst="roundRect">
            <a:avLst>
              <a:gd name="adj" fmla="val 22222"/>
            </a:avLst>
          </a:prstGeom>
          <a:solidFill>
            <a:srgbClr val="F4E0EE"/>
          </a:solidFill>
          <a:ln w="12700">
            <a:solidFill>
              <a:srgbClr val="F4E0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30184" y="1874520"/>
            <a:ext cx="18608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 и что с ними делаем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30184" y="2286000"/>
            <a:ext cx="313639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генерации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модель может неверно разобрать описание: правка одной фразой и шаблон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Доступность модели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сервис собирается шаблоном, сценарий не блокируется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Модерация и доверие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при росте нужна проверка содержимого сервисов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5102352"/>
            <a:ext cx="11183112" cy="932688"/>
          </a:xfrm>
          <a:prstGeom prst="roundRect">
            <a:avLst>
              <a:gd name="adj" fmla="val 9804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952" y="5248656"/>
            <a:ext cx="10671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уже подтверждено: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сквозной путь «описание → сервис → запись → заявка владельцу → ответ клиенту» проходит на проде целиком и покрыт 54 автотестами — включая подделку подписи, чужой токен, просроченные параметры и запись на услугу, которой в сервисе нет.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что мы опирались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54396" cy="2834640"/>
          </a:xfrm>
          <a:prstGeom prst="roundRect">
            <a:avLst>
              <a:gd name="adj" fmla="val 322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0664" y="1600200"/>
            <a:ext cx="4978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и аудитория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40664" y="2011680"/>
            <a:ext cx="497890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Задание трека «Эффективный бизнес»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постановка, критерии оценки, рекомендации, формат сдачи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Единый реестр субъектов МСП, июль 2026: 6,6 млн субъектов, 81,8% всех действующих юрлиц и ИП, рост 3,5% год к году (приведено по заданию трека)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Разведка квартала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у ЖК «Самоцветы», СПб, август 2026 — около 160 организаций по 2ГИС и Яндекс Картам, маршрут обхода: выбор пилотной площадки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31636" y="1417320"/>
            <a:ext cx="5454396" cy="2834640"/>
          </a:xfrm>
          <a:prstGeom prst="roundRect">
            <a:avLst>
              <a:gd name="adj" fmla="val 322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69380" y="1600200"/>
            <a:ext cx="4978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документация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69380" y="2011680"/>
            <a:ext cx="497890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для разработчиков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API ботов: методы, вебхуки, кнопки, лимиты запросов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OpenAPI-спецификация MAX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github.com/max-messenger/api-schema: форма кнопок и сообщений сверена по ней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Bridge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валидация данных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стартовые параметры, контакт, «Поделиться», проверка подписи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Минцифры России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корневой сертификат для доступа к API платформы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4480560"/>
            <a:ext cx="11183112" cy="868680"/>
          </a:xfrm>
          <a:prstGeom prst="roundRect">
            <a:avLst>
              <a:gd name="adj" fmla="val 10526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58952" y="4617720"/>
            <a:ext cx="106710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Документация MAX развивается: перед сдачей состав API и методов сверялся с актуальными разделами «API ботов», «MAX Bridge» и «Валидация данных» и с официальной спецификацией, а не с примерами из сторонних источников.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rk-airunt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8250"/>
            <a:ext cx="304800" cy="304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76325" y="1238250"/>
            <a:ext cx="1333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5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endParaRPr lang="en-US" sz="1425" dirty="0"/>
          </a:p>
        </p:txBody>
      </p:sp>
      <p:sp>
        <p:nvSpPr>
          <p:cNvPr id="4" name="Text 1"/>
          <p:cNvSpPr txBox="1"/>
          <p:nvPr/>
        </p:nvSpPr>
        <p:spPr>
          <a:xfrm>
            <a:off x="2152650" y="1238250"/>
            <a:ext cx="1333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DA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pic>
        <p:nvPicPr>
          <p:cNvPr id="5" name="Image 1" descr="mark-ma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1725" y="1238250"/>
            <a:ext cx="304800" cy="3048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752725" y="1238250"/>
            <a:ext cx="76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1847850"/>
            <a:ext cx="495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860" dirty="0"/>
          </a:p>
        </p:txBody>
      </p:sp>
      <p:sp>
        <p:nvSpPr>
          <p:cNvPr id="8" name="Text 4"/>
          <p:cNvSpPr txBox="1"/>
          <p:nvPr/>
        </p:nvSpPr>
        <p:spPr>
          <a:xfrm>
            <a:off x="666750" y="2114550"/>
            <a:ext cx="7048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 сообщение —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запись уже в MAX</a:t>
            </a:r>
            <a:endParaRPr lang="en-US" sz="46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581400"/>
            <a:ext cx="552450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DC4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и мини-приложение работают прямо сейчас. Опишите бизнес одним сообщением — секунд через десять у клиентов будет страница записи, а у вас заявки в чате.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4752975"/>
            <a:ext cx="1714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В MAX</a:t>
            </a:r>
            <a:endParaRPr lang="en-US" sz="860" dirty="0"/>
          </a:p>
        </p:txBody>
      </p:sp>
      <p:sp>
        <p:nvSpPr>
          <p:cNvPr id="11" name="Text 7"/>
          <p:cNvSpPr txBox="1"/>
          <p:nvPr/>
        </p:nvSpPr>
        <p:spPr>
          <a:xfrm>
            <a:off x="2457450" y="4752975"/>
            <a:ext cx="400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max.ru/t403_hakaton_max_bot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5076825"/>
            <a:ext cx="1714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</a:t>
            </a:r>
            <a:endParaRPr lang="en-US" sz="860" dirty="0"/>
          </a:p>
        </p:txBody>
      </p:sp>
      <p:sp>
        <p:nvSpPr>
          <p:cNvPr id="13" name="Text 9"/>
          <p:cNvSpPr txBox="1"/>
          <p:nvPr/>
        </p:nvSpPr>
        <p:spPr>
          <a:xfrm>
            <a:off x="2457450" y="5076825"/>
            <a:ext cx="400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airuntime.ru/max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5400675"/>
            <a:ext cx="1714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ИСХОДНЫЙ КОД</a:t>
            </a:r>
            <a:endParaRPr lang="en-US" sz="860" dirty="0"/>
          </a:p>
        </p:txBody>
      </p:sp>
      <p:sp>
        <p:nvSpPr>
          <p:cNvPr id="15" name="Text 11"/>
          <p:cNvSpPr txBox="1"/>
          <p:nvPr/>
        </p:nvSpPr>
        <p:spPr>
          <a:xfrm>
            <a:off x="2457450" y="5400675"/>
            <a:ext cx="400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github.com/airuntime-ru/airuntime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210550" y="1524000"/>
            <a:ext cx="3086100" cy="3657600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0" dist="177800" dir="5400000">
              <a:srgbClr val="000000">
                <a:alpha val="55000"/>
              </a:srgbClr>
            </a:outerShdw>
          </a:effectLst>
        </p:spPr>
      </p:sp>
      <p:pic>
        <p:nvPicPr>
          <p:cNvPr id="17" name="Image 2" descr="qr-bo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9650" y="1809750"/>
            <a:ext cx="2247900" cy="22479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96300" y="4229100"/>
            <a:ext cx="2514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Наведите камеру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8496300" y="4533900"/>
            <a:ext cx="2514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Откроется бот в MAX — опишите свой бизнес и получите страницу записи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AIRuntime × MAX</dc:title>
  <dc:subject>PptxGenJS Presentation</dc:subject>
  <dc:creator>AIRuntime</dc:creator>
  <cp:lastModifiedBy>AIRuntime</cp:lastModifiedBy>
  <cp:revision>1</cp:revision>
  <dcterms:created xsi:type="dcterms:W3CDTF">2026-09-22T15:14:43Z</dcterms:created>
  <dcterms:modified xsi:type="dcterms:W3CDTF">2026-09-22T15:14:43Z</dcterms:modified>
</cp:coreProperties>
</file>