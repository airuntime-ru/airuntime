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СЛАЙД 1 · СЛУЖЕБНЫЙ · НЕ ОЦЕНИВАЕТСЯ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информация для проверки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1673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 в MAX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2240280" y="1316736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https://max.ru/t403_hakaton_max_bot</a:t>
            </a:r>
            <a:pPr indent="0" marL="0">
              <a:lnSpc>
                <a:spcPct val="105000"/>
              </a:lnSpc>
              <a:buNone/>
            </a:pP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«Хакатон МАХ 403», user_id 395683755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9385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240280" y="193852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https://airuntime.ru/max</a:t>
            </a:r>
            <a:pPr indent="0" marL="0">
              <a:lnSpc>
                <a:spcPct val="105000"/>
              </a:lnSpc>
              <a:buNone/>
            </a:pP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Открывается кнопкой open_app и по ?startapp=&lt;slug&gt;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25603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Git-репозиторий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2240280" y="25603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github.com/airuntime-ru/airuntime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30175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hash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240280" y="30175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376b483 · ветка main</a:t>
            </a:r>
            <a:pPr indent="0" marL="0">
              <a:lnSpc>
                <a:spcPct val="105000"/>
              </a:lnSpc>
              <a:buNone/>
            </a:pP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376b483180331187bd900c2dce8a18bda4ca5672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36393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Собственный API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240280" y="36393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используется как отдельно проверяемый контракт</a:t>
            </a:r>
            <a:pPr indent="0" marL="0">
              <a:lnSpc>
                <a:spcPct val="105000"/>
              </a:lnSpc>
              <a:buNone/>
            </a:pP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Внутренние эндпоинты — /api/v1/max/*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26110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Тестовые записи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2240280" y="4261104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требуются: вход — сам аккаунт MAX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720840" y="1371600"/>
            <a:ext cx="4965192" cy="4709160"/>
          </a:xfrm>
          <a:prstGeom prst="roundRect">
            <a:avLst>
              <a:gd name="adj" fmla="val 194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976872" y="1572768"/>
            <a:ext cx="4453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прохождения основного сценария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976872" y="1975104"/>
            <a:ext cx="445312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max.ru/t403_hakaton_max_bot, нажать «Начать», затем «Открыть Витрину»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мини-приложении описать бизнес одним сообщением: «Автосервис на Лесной. Диагностика 1500, замена масла 900, шиномонтаж 2400. Работаем с 9 до 20» — и нажать «Собрать витрину»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Через несколько секунд витрина опубликована: ссылка для клиентов, «Поделиться», «Посмотреть»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эту ссылку с другого аккаунта MAX — это роль клиента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Выбрать услугу и время, указать имя, нажать «Записаться»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Владельцу в чат с ботом придёт заявка с кнопкой «Открыть заявки»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Нажать «Подтвердить» в приложении — клиенту придёт уведомление в MAX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4846320"/>
            <a:ext cx="5760720" cy="1234440"/>
          </a:xfrm>
          <a:prstGeom prst="roundRect">
            <a:avLst>
              <a:gd name="adj" fmla="val 7407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22376" y="5029200"/>
            <a:ext cx="5321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Переменные окружения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MAX_BOT_TOKEN (передаётся отдельно) · MAX_BOT_USERNAME=t403_hakaton_max_bot · MAX_WEBHOOK_SECRET · MAX_MINIAPP_URL · OPENAI_API_KEY. Полный список — в .env.example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rk-airunt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33500"/>
            <a:ext cx="304800" cy="304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76325" y="1333500"/>
            <a:ext cx="1333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5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endParaRPr lang="en-US" sz="1425" dirty="0"/>
          </a:p>
        </p:txBody>
      </p:sp>
      <p:sp>
        <p:nvSpPr>
          <p:cNvPr id="4" name="Text 1"/>
          <p:cNvSpPr txBox="1"/>
          <p:nvPr/>
        </p:nvSpPr>
        <p:spPr>
          <a:xfrm>
            <a:off x="2152650" y="1333500"/>
            <a:ext cx="1333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DA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2371725" y="1376363"/>
            <a:ext cx="219075" cy="219075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443163" y="1447800"/>
            <a:ext cx="76200" cy="76200"/>
          </a:xfrm>
          <a:prstGeom prst="ellipse">
            <a:avLst/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667000" y="1333500"/>
            <a:ext cx="76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1943100"/>
            <a:ext cx="495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ТРЕК «ЭФФЕКТИВНЫЙ БИЗНЕС»</a:t>
            </a:r>
            <a:endParaRPr lang="en-US" sz="860" dirty="0"/>
          </a:p>
        </p:txBody>
      </p:sp>
      <p:sp>
        <p:nvSpPr>
          <p:cNvPr id="9" name="Text 6"/>
          <p:cNvSpPr txBox="1"/>
          <p:nvPr/>
        </p:nvSpPr>
        <p:spPr>
          <a:xfrm>
            <a:off x="647700" y="2152650"/>
            <a:ext cx="533400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</a:t>
            </a:r>
            <a:endParaRPr lang="en-US" sz="84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505200"/>
            <a:ext cx="47625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BDC4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Рабочий сервис записи в MAX из одного сообщения — без разработчика, без подрядчика, без ожидания.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810125"/>
            <a:ext cx="1905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86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5029200"/>
            <a:ext cx="2000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5" b="1" u="dash" dirty="0">
                <a:solidFill>
                  <a:srgbClr val="8F96A6"/>
                </a:solidFill>
                <a:uFill>
                  <a:solidFill>
                    <a:srgbClr val="59627A"/>
                  </a:solidFill>
                </a:uFill>
                <a:latin typeface="Calibri" pitchFamily="34" charset="0"/>
                <a:ea typeface="Calibri" pitchFamily="34" charset="-122"/>
                <a:cs typeface="Calibri" pitchFamily="34" charset="-120"/>
              </a:rPr>
              <a:t>[Название команды]</a:t>
            </a:r>
            <a:endParaRPr lang="en-US" sz="1275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5295900"/>
            <a:ext cx="2000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u="dash" dirty="0">
                <a:solidFill>
                  <a:srgbClr val="8F96A6"/>
                </a:solidFill>
                <a:uFill>
                  <a:solidFill>
                    <a:srgbClr val="59627A"/>
                  </a:solidFill>
                </a:uFill>
                <a:latin typeface="Calibri" pitchFamily="34" charset="0"/>
                <a:ea typeface="Calibri" pitchFamily="34" charset="-122"/>
                <a:cs typeface="Calibri" pitchFamily="34" charset="-120"/>
              </a:rPr>
              <a:t>[Участники и роли]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838450" y="4810125"/>
            <a:ext cx="2381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860" dirty="0"/>
          </a:p>
        </p:txBody>
      </p:sp>
      <p:sp>
        <p:nvSpPr>
          <p:cNvPr id="15" name="Text 12"/>
          <p:cNvSpPr txBox="1"/>
          <p:nvPr/>
        </p:nvSpPr>
        <p:spPr>
          <a:xfrm>
            <a:off x="2838450" y="5029200"/>
            <a:ext cx="2571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5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 + мини-приложение</a:t>
            </a:r>
            <a:endParaRPr lang="en-US" sz="1275" dirty="0"/>
          </a:p>
        </p:txBody>
      </p:sp>
      <p:sp>
        <p:nvSpPr>
          <p:cNvPr id="16" name="Text 13"/>
          <p:cNvSpPr txBox="1"/>
          <p:nvPr/>
        </p:nvSpPr>
        <p:spPr>
          <a:xfrm>
            <a:off x="2838450" y="5295900"/>
            <a:ext cx="2571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5AC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@t403_hakaton_max_bot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848350" y="990600"/>
            <a:ext cx="2857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ОПИСЫВАЕТ БИЗНЕС</a:t>
            </a:r>
            <a:endParaRPr lang="en-US" sz="825" dirty="0"/>
          </a:p>
        </p:txBody>
      </p:sp>
      <p:pic>
        <p:nvPicPr>
          <p:cNvPr id="18" name="Image 1" descr="bubble-own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8350" y="1257300"/>
            <a:ext cx="2590800" cy="104775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010275" y="1352550"/>
            <a:ext cx="2286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Автосервис на Лесной пр. 12. Диагностика подвески 1500, замена масла 900, шиномонтаж 2400. С 9 до 20, +7 812 000-00-00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8686800" y="723900"/>
            <a:ext cx="2762250" cy="5380863"/>
          </a:xfrm>
          <a:prstGeom prst="roundRect">
            <a:avLst>
              <a:gd name="adj" fmla="val 8200"/>
            </a:avLst>
          </a:prstGeom>
          <a:solidFill>
            <a:srgbClr val="1E2638"/>
          </a:solidFill>
          <a:ln w="9525">
            <a:solidFill>
              <a:srgbClr val="39445E"/>
            </a:solidFill>
            <a:prstDash val="solid"/>
          </a:ln>
          <a:effectLst>
            <a:outerShdw sx="100000" sy="100000" kx="0" ky="0" algn="bl" rotWithShape="0" blurRad="381000" dist="152400" dir="5400000">
              <a:srgbClr val="000000">
                <a:alpha val="55000"/>
              </a:srgbClr>
            </a:outerShdw>
          </a:effectLst>
        </p:spPr>
      </p:sp>
      <p:pic>
        <p:nvPicPr>
          <p:cNvPr id="21" name="Image 2" descr="screen-storefro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8619" y="795718"/>
            <a:ext cx="2618613" cy="5237226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6096000" y="3848100"/>
            <a:ext cx="2857500" cy="1390650"/>
          </a:xfrm>
          <a:prstGeom prst="roundRect">
            <a:avLst>
              <a:gd name="adj" fmla="val 1369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0" dist="152400" dir="5400000">
              <a:srgbClr val="000000">
                <a:alpha val="5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267450" y="4000500"/>
            <a:ext cx="209550" cy="209550"/>
          </a:xfrm>
          <a:prstGeom prst="ellipse">
            <a:avLst/>
          </a:prstGeom>
          <a:solidFill>
            <a:srgbClr val="1F8A55"/>
          </a:solidFill>
          <a:ln w="12700">
            <a:solidFill>
              <a:srgbClr val="1F8A55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267450" y="4000500"/>
            <a:ext cx="2095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6562725" y="3981450"/>
            <a:ext cx="21907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готова</a:t>
            </a:r>
            <a:endParaRPr lang="en-US" sz="1250" dirty="0"/>
          </a:p>
        </p:txBody>
      </p:sp>
      <p:sp>
        <p:nvSpPr>
          <p:cNvPr id="26" name="Text 21"/>
          <p:cNvSpPr txBox="1"/>
          <p:nvPr/>
        </p:nvSpPr>
        <p:spPr>
          <a:xfrm>
            <a:off x="6267450" y="4267200"/>
            <a:ext cx="251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Клиенты записываются по ссылке, заявки приходят в чат с ботом.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6267450" y="4743450"/>
            <a:ext cx="2514600" cy="352425"/>
          </a:xfrm>
          <a:prstGeom prst="roundRect">
            <a:avLst>
              <a:gd name="adj" fmla="val 29730"/>
            </a:avLst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267450" y="4743450"/>
            <a:ext cx="251460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Поделиться ссылкой</a:t>
            </a:r>
            <a:endParaRPr 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ХАКАТОН MAX  ·  2026</a:t>
            </a:r>
            <a:endParaRPr lang="en-US" sz="1000" dirty="0"/>
          </a:p>
        </p:txBody>
      </p:sp>
      <p:sp>
        <p:nvSpPr>
          <p:cNvPr id="30" name="Text 25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сделали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34440"/>
            <a:ext cx="11183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Микробизнес услуг ведёт запись руками — в личных сообщениях и по телефону. Витрина превращает одно сообщение в мини-приложении MAX в работающую витрину с онлайн-записью, которую клиенты открывают прямо в MAX. Заявки приходят владельцу в чат с ботом.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2148840"/>
            <a:ext cx="2590038" cy="1554480"/>
          </a:xfrm>
          <a:prstGeom prst="roundRect">
            <a:avLst>
              <a:gd name="adj" fmla="val 588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04088" y="2295144"/>
            <a:ext cx="21877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2770632"/>
            <a:ext cx="21877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сообщение от владельца до готовой витрины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67278" y="2148840"/>
            <a:ext cx="2590038" cy="1554480"/>
          </a:xfrm>
          <a:prstGeom prst="roundRect">
            <a:avLst>
              <a:gd name="adj" fmla="val 588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68446" y="2295144"/>
            <a:ext cx="21877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</a:t>
            </a:r>
            <a:pPr indent="0" marL="0">
              <a:buNone/>
            </a:pPr>
            <a:r>
              <a:rPr lang="en-US" sz="15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сек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3568446" y="2770632"/>
            <a:ext cx="21877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ссылки, которую можно отправить клиенту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2148840"/>
            <a:ext cx="2590038" cy="1554480"/>
          </a:xfrm>
          <a:prstGeom prst="roundRect">
            <a:avLst>
              <a:gd name="adj" fmla="val 588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32804" y="2295144"/>
            <a:ext cx="21877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buNone/>
            </a:pP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6432804" y="2770632"/>
            <a:ext cx="21877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касания клиента: выбрать услугу и время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095994" y="2148840"/>
            <a:ext cx="2590038" cy="1554480"/>
          </a:xfrm>
          <a:prstGeom prst="roundRect">
            <a:avLst>
              <a:gd name="adj" fmla="val 588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297162" y="2295144"/>
            <a:ext cx="21877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pPr indent="0" marL="0">
              <a:buNone/>
            </a:pP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9297162" y="2770632"/>
            <a:ext cx="21877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строк кода и сторонних сервисов у предпринимателя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977640"/>
            <a:ext cx="3544824" cy="2194560"/>
          </a:xfrm>
          <a:prstGeom prst="roundRect">
            <a:avLst>
              <a:gd name="adj" fmla="val 4167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22376" y="4160520"/>
            <a:ext cx="310591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кого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Самозанятые и микро-ИП в услугах: автосервис, барбершоп, мастер маникюра, репетитор, клининг. 1–5 человек, без сайта и без CRM.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322064" y="3977640"/>
            <a:ext cx="3544824" cy="2194560"/>
          </a:xfrm>
          <a:prstGeom prst="roundRect">
            <a:avLst>
              <a:gd name="adj" fmla="val 4167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4541520" y="4160520"/>
            <a:ext cx="310591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закрывает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Ручную запись: заявки ночью, двойные брони, переписку вместо работы. Клиент и владелец остаются в MAX.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141208" y="3977640"/>
            <a:ext cx="3544824" cy="2194560"/>
          </a:xfrm>
          <a:prstGeom prst="roundRect">
            <a:avLst>
              <a:gd name="adj" fmla="val 4167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8360664" y="4160520"/>
            <a:ext cx="310591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именно MAX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открывается внутри чат-бота, телефон берётся из аккаунта MAX, ответ приходит туда же, где клиент записывался.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АУДИТОРИЯ И ПРОБЛЕМА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именно и что именно болит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5943600" cy="3429000"/>
          </a:xfrm>
          <a:prstGeom prst="roundRect">
            <a:avLst>
              <a:gd name="adj" fmla="val 2667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15361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Формулировка проблемы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920240"/>
            <a:ext cx="5440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микросервиса в сфере услуг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 ситуации, когда клиенты пишут в личные сообщения в любое время, </a:t>
            </a:r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хочет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принимать записи без ручного согласования каждой, </a:t>
            </a:r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 сталкивается с тем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что онлайн-запись требует либо платной CRM с настройкой, либо разработки сайта или бота, </a:t>
            </a:r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из-за чего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продолжает вести запись вручную — теряет ночные заявки, допускает двойные брони и тратит рабочее время на переписку.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493776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Сегмент выбран узко намеренно: одна отрасль, один сценарий, один участок процесса, который цифровое решение закрывает от начала до результата.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12280" y="1325880"/>
            <a:ext cx="2308860" cy="1664208"/>
          </a:xfrm>
          <a:prstGeom prst="roundRect">
            <a:avLst>
              <a:gd name="adj" fmla="val 549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013448" y="1472184"/>
            <a:ext cx="19065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6,6</a:t>
            </a:r>
            <a:pPr indent="0" marL="0">
              <a:buNone/>
            </a:pPr>
            <a:r>
              <a:rPr lang="en-US" sz="15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млн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7013448" y="1947672"/>
            <a:ext cx="19065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субъектов МСП в едином реестре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013448" y="2697480"/>
            <a:ext cx="19065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России, июль 2026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377172" y="1325880"/>
            <a:ext cx="2308860" cy="1664208"/>
          </a:xfrm>
          <a:prstGeom prst="roundRect">
            <a:avLst>
              <a:gd name="adj" fmla="val 549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578340" y="1472184"/>
            <a:ext cx="19065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81,8</a:t>
            </a:r>
            <a:pPr indent="0" marL="0">
              <a:buNone/>
            </a:pPr>
            <a:r>
              <a:rPr lang="en-US" sz="15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%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9578340" y="1947672"/>
            <a:ext cx="19065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всех действующих юрлиц и ИП — это МСП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578340" y="2697480"/>
            <a:ext cx="19065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России, 2026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812280" y="3154680"/>
            <a:ext cx="2308860" cy="1664208"/>
          </a:xfrm>
          <a:prstGeom prst="roundRect">
            <a:avLst>
              <a:gd name="adj" fmla="val 549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013448" y="3300984"/>
            <a:ext cx="19065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+3,5</a:t>
            </a:r>
            <a:pPr indent="0" marL="0">
              <a:buNone/>
            </a:pPr>
            <a:r>
              <a:rPr lang="en-US" sz="15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%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7013448" y="3776472"/>
            <a:ext cx="19065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рост числа субъектов МСП год к году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013448" y="4526280"/>
            <a:ext cx="19065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России, 2026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377172" y="3154680"/>
            <a:ext cx="2308860" cy="1664208"/>
          </a:xfrm>
          <a:prstGeom prst="roundRect">
            <a:avLst>
              <a:gd name="adj" fmla="val 549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578340" y="3300984"/>
            <a:ext cx="19065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</a:t>
            </a:r>
            <a:pPr indent="0" marL="0">
              <a:buNone/>
            </a:pPr>
            <a:r>
              <a:rPr lang="en-US" sz="15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млн</a:t>
            </a:r>
            <a:endParaRPr lang="en-US" sz="3200" dirty="0"/>
          </a:p>
        </p:txBody>
      </p:sp>
      <p:sp>
        <p:nvSpPr>
          <p:cNvPr id="22" name="Text 20"/>
          <p:cNvSpPr txBox="1"/>
          <p:nvPr/>
        </p:nvSpPr>
        <p:spPr>
          <a:xfrm>
            <a:off x="9578340" y="3776472"/>
            <a:ext cx="19065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работников — заявленная кадровая потребность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578340" y="4526280"/>
            <a:ext cx="19065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Росстат / Роструд, май 2026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812280" y="5029200"/>
            <a:ext cx="4873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описывают размер и динамику аудитории. Оценку доли микробизнеса без онлайн-записи мы выносим в допущения — см. слайд 14.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УЧАСТОК ПРОЦЕССА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меняется в пользовательском пути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9170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не автоматизируем весь бизнес-процесс — только тот участок, где эффект заметен сразу.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5431536" cy="2697480"/>
          </a:xfrm>
          <a:prstGeom prst="roundRect">
            <a:avLst>
              <a:gd name="adj" fmla="val 339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58952" y="1901952"/>
            <a:ext cx="4919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IS — СЕГОДНЯ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240280"/>
            <a:ext cx="49194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пишет в личные сообщения или звонит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отвечает вручную, сверяется с блокнотом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Согласование времени занимает несколько сообщений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Ночные заявки остаются без ответа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Прайс приходится пересказывать каждому заново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Подтверждение и напоминание — снова вручную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54496" y="1691640"/>
            <a:ext cx="5431536" cy="2697480"/>
          </a:xfrm>
          <a:prstGeom prst="roundRect">
            <a:avLst>
              <a:gd name="adj" fmla="val 3390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10528" y="1901952"/>
            <a:ext cx="4919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F8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— С ВИТРИНОЙ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510528" y="2240280"/>
            <a:ext cx="49194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Исчезает пересказ прайса: услуги и цены видны в витрине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Упрощается выбор времени: клиент берёт слот сам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 собирается заявка и падает в чат владельца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Быстрее приходит ответ: подтверждение — одна кнопка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Проще результат: запись принимается круглосуточно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по-прежнему решает сам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4572000"/>
            <a:ext cx="11183112" cy="1005840"/>
          </a:xfrm>
          <a:prstGeom prst="roundRect">
            <a:avLst>
              <a:gd name="adj" fmla="val 909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58952" y="4773168"/>
            <a:ext cx="10671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Гипотеза.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мы поможем владельцу микросервиса принимать записи витриной в MAX, собранной из одного сообщения, доля заявок, дошедших до подтверждения, вырастет, а время на переписку сократится — потому что клиент проходит путь сам, а владельцу остаётся одно решение.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ОСНОВНОЙ СЦЕНАРИЙ · ЧАСТЬ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Владелец: одно сообщение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2590038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1517904"/>
            <a:ext cx="329184" cy="329184"/>
          </a:xfrm>
          <a:prstGeom prst="ellipse">
            <a:avLst/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22376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22376" y="1920240"/>
            <a:ext cx="21511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Открывает бота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2376" y="2240280"/>
            <a:ext cx="21511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Находит @t403_hakaton_max_bot и нажимает «Начать» — в ответ одна кнопка «Открыть Витрину». Регистрации нет.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67278" y="1325880"/>
            <a:ext cx="2590038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86734" y="1517904"/>
            <a:ext cx="329184" cy="329184"/>
          </a:xfrm>
          <a:prstGeom prst="ellipse">
            <a:avLst/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86734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586734" y="1920240"/>
            <a:ext cx="21511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Описывает бизнес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586734" y="2240280"/>
            <a:ext cx="21511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Обычными словами, одним сообщением прямо в мини-приложении: название, услуги, цены, часы работы.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31636" y="1325880"/>
            <a:ext cx="2590038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51092" y="1517904"/>
            <a:ext cx="329184" cy="329184"/>
          </a:xfrm>
          <a:prstGeom prst="ellipse">
            <a:avLst/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51092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51092" y="1920240"/>
            <a:ext cx="21511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Получает витрину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51092" y="2240280"/>
            <a:ext cx="21511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Через несколько секунд витрина опубликована: ссылка для клиентов, «Поделиться» в чаты MAX и просмотр глазами клиента.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95994" y="1325880"/>
            <a:ext cx="2590038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15450" y="1517904"/>
            <a:ext cx="329184" cy="329184"/>
          </a:xfrm>
          <a:prstGeom prst="ellipse">
            <a:avLst/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15450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315450" y="1920240"/>
            <a:ext cx="21511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Правит текстом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315450" y="2240280"/>
            <a:ext cx="21511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«Добавь развал-схождение 3000», «убери слоты на завтра» — правка тем же способом, что и создание. Ссылка не меняется.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02920" y="3520440"/>
            <a:ext cx="11183112" cy="2057400"/>
          </a:xfrm>
          <a:prstGeom prst="roundRect">
            <a:avLst>
              <a:gd name="adj" fmla="val 4444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77240" y="37033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приходит владельцу в чат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77240" y="4041648"/>
            <a:ext cx="512064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400" y="416052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D11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Новая заявка · Автосервис на Лесной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D11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Диагностика подвески · Сегодня 14:00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D11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Пётр, +7 999 000-11-22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D11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«Mazda 6, стучит подвеска»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D11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Открыть заявки ]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172200" y="3703320"/>
            <a:ext cx="551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Ссылку можно раздать как угодно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6172200" y="4069080"/>
            <a:ext cx="5513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Отправить в переписке существующим клиентам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Повесить QR-кодом на стойке, в витрине, на визитке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Поставить в описание канала или профиля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6172200" y="5029200"/>
            <a:ext cx="5513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Ссылка открывает мини-приложение внутри MAX — клиент не уходит в браузер и ничего не устанавливает.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ОСНОВНОЙ СЦЕНАРИЙ · ЧАСТЬ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Клиент: два касания до записи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226820" y="1371600"/>
            <a:ext cx="1975104" cy="3847503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5" name="Image 0" descr="screen-storefro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8173" y="1422953"/>
            <a:ext cx="1872399" cy="374479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5383695"/>
            <a:ext cx="342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5676303"/>
            <a:ext cx="3422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Услуги с ценами и длительностью, ближайшие слоты. Имя подставляется из профиля MAX.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106924" y="1371600"/>
            <a:ext cx="1975104" cy="3847503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9" name="Image 1" descr="screen-book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8277" y="1422953"/>
            <a:ext cx="1872399" cy="374479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383024" y="5383695"/>
            <a:ext cx="342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Отправка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4383024" y="5676303"/>
            <a:ext cx="3422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берётся из MAX по кнопке — вводить ничего не нужно. Кнопка действия закреплена внизу.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8987028" y="1371600"/>
            <a:ext cx="1975104" cy="3847503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13" name="Image 2" descr="screen-own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8381" y="1422953"/>
            <a:ext cx="1872399" cy="374479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263128" y="5383695"/>
            <a:ext cx="342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263128" y="5676303"/>
            <a:ext cx="3422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приходит владельцу в чат и в кабинет. Подтверждение — одна кнопка, клиент узнаёт в MAX.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ОЖИДАЕМЫЙ ЭФФЕКТ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должно измениться и как это проверить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9170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этапе хакатона это гипотезы. Важно не то, какие цифры мы заявим, а то, что каждую можно измерить после пилота.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5431536" cy="4160520"/>
          </a:xfrm>
          <a:prstGeom prst="roundRect">
            <a:avLst>
              <a:gd name="adj" fmla="val 219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58952" y="1938528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Метрики, которые снимает сам продукт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377440"/>
            <a:ext cx="49194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доведённых записей — открыл витрину → отправил заявку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до подтверждения — от заявки до нажатия кнопки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заявок вне рабочих часов — замер того, что терялось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Ручных сообщений на одну запись — целевое значение 0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от «описал» до первой заявки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5257800"/>
            <a:ext cx="4919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события уже проходят через наш бэкенд — отдельная аналитика не нужна.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54496" y="1737360"/>
            <a:ext cx="5431536" cy="4160520"/>
          </a:xfrm>
          <a:prstGeom prst="roundRect">
            <a:avLst>
              <a:gd name="adj" fmla="val 2198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510528" y="1938528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измеряем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10528" y="2377440"/>
            <a:ext cx="49194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Базовая линия снимается до запуска: неделя ручного подсчёта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 — та же неделя через витрину, сравнение по тем же величинам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Сравниваем на одном и том же бизнесе, а не между разными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510528" y="4114800"/>
            <a:ext cx="4919472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B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93408" y="4315968"/>
            <a:ext cx="4553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Критерий успеха пилота: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после недели отказывается возвращаться к ручной записи, и хотя бы одна заявка пришла вне рабочих часов и была подтверждена.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решения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МЕССЕНДЖЕР MAX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137160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БЭКЕНД AIRUNTIME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595360" y="1371600"/>
            <a:ext cx="3090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ХРАНЕНИЕ И ИНФРАСТРУКТУРА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3566160" cy="749808"/>
          </a:xfrm>
          <a:prstGeom prst="roundRect">
            <a:avLst>
              <a:gd name="adj" fmla="val 10976"/>
            </a:avLst>
          </a:prstGeom>
          <a:solidFill>
            <a:srgbClr val="10284F"/>
          </a:solidFill>
          <a:ln w="12700">
            <a:solidFill>
              <a:srgbClr val="3E6DA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181051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08483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приветствие и уведомления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651760"/>
            <a:ext cx="3566160" cy="749808"/>
          </a:xfrm>
          <a:prstGeom prst="roundRect">
            <a:avLst>
              <a:gd name="adj" fmla="val 10976"/>
            </a:avLst>
          </a:prstGeom>
          <a:solidFill>
            <a:srgbClr val="10284F"/>
          </a:solidFill>
          <a:ln w="12700">
            <a:solidFill>
              <a:srgbClr val="3E6DA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04088" y="277063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04088" y="304495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создание, витрина, заявки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0" y="1691640"/>
            <a:ext cx="3566160" cy="749808"/>
          </a:xfrm>
          <a:prstGeom prst="roundRect">
            <a:avLst>
              <a:gd name="adj" fmla="val 1097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73168" y="181051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Вебхук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773168" y="208483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секрет в пути, всегда 200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0" y="2651760"/>
            <a:ext cx="3566160" cy="749808"/>
          </a:xfrm>
          <a:prstGeom prst="roundRect">
            <a:avLst>
              <a:gd name="adj" fmla="val 1097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73168" y="277063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мини-аппа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773168" y="304495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— подпись initData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0" y="3611880"/>
            <a:ext cx="3566160" cy="749808"/>
          </a:xfrm>
          <a:prstGeom prst="roundRect">
            <a:avLst>
              <a:gd name="adj" fmla="val 1097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73168" y="373075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Генератор витрины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4773168" y="400507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→ валидируемый конфиг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595360" y="1691640"/>
            <a:ext cx="3090672" cy="749808"/>
          </a:xfrm>
          <a:prstGeom prst="roundRect">
            <a:avLst>
              <a:gd name="adj" fmla="val 1097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796528" y="181051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796528" y="208483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владельцы, витрины, заявки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595360" y="2651760"/>
            <a:ext cx="3090672" cy="749808"/>
          </a:xfrm>
          <a:prstGeom prst="roundRect">
            <a:avLst>
              <a:gd name="adj" fmla="val 1097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796528" y="277063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Traefik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8796528" y="304495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HTTPS, сертификат Минцифры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595360" y="3611880"/>
            <a:ext cx="3090672" cy="749808"/>
          </a:xfrm>
          <a:prstGeom prst="roundRect">
            <a:avLst>
              <a:gd name="adj" fmla="val 1097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96528" y="373075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LLM-провайдер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8796528" y="400507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внешний, с фоллбэком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123944" y="2066544"/>
            <a:ext cx="39319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123944" y="3026664"/>
            <a:ext cx="39319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193024" y="2066544"/>
            <a:ext cx="34747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8193024" y="3026664"/>
            <a:ext cx="34747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193024" y="3986784"/>
            <a:ext cx="34747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502920" y="4617720"/>
            <a:ext cx="3544824" cy="1463040"/>
          </a:xfrm>
          <a:prstGeom prst="roundRect">
            <a:avLst>
              <a:gd name="adj" fmla="val 6250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722376" y="4800600"/>
            <a:ext cx="310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— это данные, а не код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мультитенантный мини-апп рендерит все витрины из валидированного конфига. «Описал → клиент может записаться» занимает секунды и не ломается от неудачного ответа модели.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4322064" y="4617720"/>
            <a:ext cx="3544824" cy="1463040"/>
          </a:xfrm>
          <a:prstGeom prst="roundRect">
            <a:avLst>
              <a:gd name="adj" fmla="val 6250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4541520" y="4800600"/>
            <a:ext cx="310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Две разные модели доверия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Вебхук аутентифицируется секретом в пути — MAX не подписывает доставки. Мини-апп — подписью initData. Ни один эндпоинт не принимает id пользователя из тела запроса.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8141208" y="4617720"/>
            <a:ext cx="3544824" cy="1463040"/>
          </a:xfrm>
          <a:prstGeom prst="roundRect">
            <a:avLst>
              <a:gd name="adj" fmla="val 6250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8360664" y="4800600"/>
            <a:ext cx="310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Отказоустойчивость по умолчанию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Вебхук всегда отвечает 200: ошибка обработчика стала бы штормом повторов. Если LLM недоступна, витрина собирается черновиком.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ИСПОЛЬЗОВАНИЕ ПЛАТФОРМЫ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берём у MAX и зачем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9170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Каждая возможность закрывает шаг сценария, а не добавлена ради галочки.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22376" y="1965960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open_app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открывается внутри чат-бота. Клиент не уходит в браузер и ничего не устанавливает.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22064" y="1783080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41520" y="1965960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startapp deep link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ссылка на витрину, пригодная для QR-кода. Она же приводит клиента в бота.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141208" y="1783080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360664" y="1965960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requestContact()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берётся из аккаунта MAX по кнопке и приходит подписанным.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355848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22376" y="3538728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shareMaxContent()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«Поделиться» открывает родной экран MAX «Отправить в чат» — ссылка уходит клиентам, не выходя из мессенджера.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22064" y="3355848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541520" y="3538728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getViewportSize / getLaunchContext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 подстраивается под область просмотра и под источник запуска.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141208" y="3355848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360664" y="3538728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Обратная связь замыкается в MAX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записался в MAX — и ответ получает там же, а не в письме.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02920" y="4983480"/>
            <a:ext cx="11183112" cy="868680"/>
          </a:xfrm>
          <a:prstGeom prst="roundRect">
            <a:avLst>
              <a:gd name="adj" fmla="val 10526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952" y="5138928"/>
            <a:ext cx="10671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Мобильная и веб-версия.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 — обычные HTML, CSS и JavaScript на HTTPS, вёрстка проверена от 320 px. Функциональность одинакова в обеих версиях; MAX Bridge деградирует мягко, если метод в конкретной сборке недоступен.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И ИНТЕГРАЦИИ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Откуда берутся данные и что мы с ними делаем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5431536" cy="1874520"/>
          </a:xfrm>
          <a:prstGeom prst="roundRect">
            <a:avLst>
              <a:gd name="adj" fmla="val 487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155448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в решении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901952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Описание бизнеса — вводит сам владелец в мини-приложении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и идентификатор MAX — из подписанных параметров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клиента — только если он сам им поделился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Заявки — то, что клиент выбрал в витрине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3429000"/>
            <a:ext cx="5431536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58952" y="361188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НЕ делаем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58952" y="3959352"/>
            <a:ext cx="4919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собираем данные, которые пользователь не ввёл сам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имитируем интеграции с государственными системами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передаём токены и секреты в модель и не храним в репозитории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включаем продуктовую аналитику на поверхности мини-аппа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54496" y="1371600"/>
            <a:ext cx="5431536" cy="1874520"/>
          </a:xfrm>
          <a:prstGeom prst="roundRect">
            <a:avLst>
              <a:gd name="adj" fmla="val 4878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10528" y="155448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10528" y="1901952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Bot API — platform-api2.max.ru: вебхук, сообщения, кнопки. Реальная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Bridge — стартовые параметры, запрос контакта. Реальная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LLM-провайдер — описание → конфигурация витрины, с фоллбэком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54496" y="3429000"/>
            <a:ext cx="5431536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73952" y="3611880"/>
            <a:ext cx="49926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Смоделированные данные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демонстрации используются витрины, созданные нами при проверке сценария: «Автосервис на Лесной» и подобные. Это не реальные организации, а примеры, введённые вручную через того же бота, которым пользуется предприниматель. Данные не подставлялись в обход продуктового сценария.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ПОТЕНЦИАЛ МАСШТАБИРОВАНИЯ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остаётся неизменным, а что придётся менять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9170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Сильное решение тиражируется не потому, что перечислено много регионов, а потому, что понятно, как именно.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431536" cy="2286000"/>
          </a:xfrm>
          <a:prstGeom prst="roundRect">
            <a:avLst>
              <a:gd name="adj" fmla="val 4000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58952" y="196596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Ядро продукта — переносится без изменений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313432"/>
            <a:ext cx="491947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Механика «одно сообщение → работающий сервис в MAX»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витрины: позиции, цена, длительность, слоты, поля заявки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Диалог владельца: создание, правка текстом, публикация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заявки: клиент → чат владельца → ответ клиенту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доверия и проверка подписи стартовых параметров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Мультитенантный рендер: новый арендатор не требует деплоя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54496" y="1783080"/>
            <a:ext cx="5431536" cy="2286000"/>
          </a:xfrm>
          <a:prstGeom prst="roundRect">
            <a:avLst>
              <a:gd name="adj" fmla="val 4000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10528" y="196596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Переменная часть — адаптируется под контекст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10528" y="2313432"/>
            <a:ext cx="491947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витрины: запись → меню и заказ → заявка. Заложены три типа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Словарь отрасли: «услуга» / «позиция» / «объект» в подсказках модели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слотов: длительность, рабочие часы, праздники региона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участников: один мастер → сотрудники → филиалы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Интеграции: календарь, складские остатки, онлайн-оплата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4297680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22376" y="4480560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Куда тиражируем первым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Общепит: то же «выбрать позицию → оставить заявку». Тип menu уже поддержан.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22064" y="4297680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541520" y="4480560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контекст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Локальная аренда: инвентарь, сутки вместо часов, залог. Понадобится календарь занятости.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141208" y="4297680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360664" y="4480560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понадобится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Модерация витрин при росте, лимиты на владельца (заложены), партнёрский профиль MAX.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СЦЕНАРИЙ ПИЛОТА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Первый ограниченный запуск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544824" cy="1536192"/>
          </a:xfrm>
          <a:prstGeom prst="roundRect">
            <a:avLst>
              <a:gd name="adj" fmla="val 59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22376" y="1554480"/>
            <a:ext cx="3105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кого и где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5–10 микросервисов услуг в одном районе одного города. Критерий: ведут запись в личных сообщениях и не имеют сайта.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322064" y="1371600"/>
            <a:ext cx="3544824" cy="1536192"/>
          </a:xfrm>
          <a:prstGeom prst="roundRect">
            <a:avLst>
              <a:gd name="adj" fmla="val 59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541520" y="1554480"/>
            <a:ext cx="3105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встроится в процесс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заменяет пересказ прайса и согласование времени. Приём, оплата, сама услуга — как было.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141208" y="1371600"/>
            <a:ext cx="3544824" cy="1536192"/>
          </a:xfrm>
          <a:prstGeom prst="roundRect">
            <a:avLst>
              <a:gd name="adj" fmla="val 59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360664" y="1554480"/>
            <a:ext cx="3105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участвует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(создаёт и подтверждает), его клиенты, мы (смотрим метрики). Внешние владельцы процесса не нужны.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3544824" cy="1536192"/>
          </a:xfrm>
          <a:prstGeom prst="roundRect">
            <a:avLst>
              <a:gd name="adj" fmla="val 59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22376" y="3246120"/>
            <a:ext cx="3105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клиенты получат доступ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рассылает ссылку существующим клиентам и вешает QR-код на точке. Аудитория у бизнеса уже есть.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22064" y="3063240"/>
            <a:ext cx="3544824" cy="1536192"/>
          </a:xfrm>
          <a:prstGeom prst="roundRect">
            <a:avLst>
              <a:gd name="adj" fmla="val 59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41520" y="3246120"/>
            <a:ext cx="3105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понадобится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Верифицированный профиль на «MAX для партнёров», модерация бота, домен с HTTPS, ключ LLM-провайдера.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41208" y="3063240"/>
            <a:ext cx="3544824" cy="1536192"/>
          </a:xfrm>
          <a:prstGeom prst="roundRect">
            <a:avLst>
              <a:gd name="adj" fmla="val 595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60664" y="3246120"/>
            <a:ext cx="3105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шаг после пилота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критерий успеха выполнен — открываем тип menu для общепита в том же районе, сохраняя ядро.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2920" y="48920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58952" y="5074920"/>
            <a:ext cx="10671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пилота: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доведённых записей, время до подтверждения, доля заявок вне рабочих часов, число ручных сообщений на запись — все снимаются самим продуктом и сравниваются с базовой линией, собранной до запуска.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ОГРАНИЧЕНИЯ, РИСКИ, ДОПУЩЕНИЯ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знаем и чего пока не знаем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9170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Разделяем подтверждённое источником и то, что остаётся нашей гипотезой.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544824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58952" y="1965960"/>
            <a:ext cx="3032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 MVP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313432"/>
            <a:ext cx="3032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Слоты — текстовые варианты, а не календарь занятости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онлайн-оплаты: витрина доводит до заявки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владелец на витрину, без сотрудников и ролей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10 витрин на владельца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Напоминания клиенту пока не отправляются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22064" y="1783080"/>
            <a:ext cx="3544824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78096" y="1965960"/>
            <a:ext cx="3032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ДОПУЩЕНИЯ — ТРЕБУЮТ ПРОВЕРКИ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8096" y="2313432"/>
            <a:ext cx="3032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заметная доля микросервисов ведёт запись вручную и считает это проблемой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владелец опишет бизнес одним сообщением, а не бросит на полпути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клиенту привычнее записаться в MAX, чем написать в личные сообщения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Оценки стоимости альтернатив мы не подтверждали исследованием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141208" y="1783080"/>
            <a:ext cx="3544824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397240" y="1965960"/>
            <a:ext cx="3032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397240" y="2313432"/>
            <a:ext cx="3032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генерации: модель может неверно разобрать описание. Митигация — правка текстом и фоллбэк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Доступность LLM: витрина собирается черновиком, сценарий не блокируется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Модерация и доверие: при росте числа арендаторов нужна проверка содержимого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493776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58952" y="5102352"/>
            <a:ext cx="106710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уже проверено на практике: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сквозной путь «одно сообщение → заявка в чате владельца» проходит целиком и покрыт 54 автотестами, включая попытки подделать подпись стартовых параметров, подставить чужой токен, переиспользовать просроченные параметры и записаться на услугу, которой в витрине нет.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что мы опирались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5408676" cy="2743200"/>
          </a:xfrm>
          <a:prstGeom prst="roundRect">
            <a:avLst>
              <a:gd name="adj" fmla="val 3333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1755648"/>
            <a:ext cx="48966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об аудитории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2103120"/>
            <a:ext cx="489661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 — Единый реестр субъектов МСП, июль 2026: 6,6 млн субъектов, 81,8% всех действующих юрлиц и ИП, рост 3,5% год к году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Росстат по данным Роструда — заявленная работодателями потребность в работниках, конец мая 2026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858768"/>
            <a:ext cx="48966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C8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Показатели приведены по материалам задания трека со ссылкой на первоисточники.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77356" y="1554480"/>
            <a:ext cx="5408676" cy="2743200"/>
          </a:xfrm>
          <a:prstGeom prst="roundRect">
            <a:avLst>
              <a:gd name="adj" fmla="val 3333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33388" y="1755648"/>
            <a:ext cx="48966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документация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33388" y="2103120"/>
            <a:ext cx="489661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для разработчиков — API ботов: методы, вебхуки, типы кнопок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Bridge — стартовые параметры, запрос контакта, контекст запуска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Валидация данных MAX — алгоритм проверки подписи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размещения чат-ботов и мини-приложений на платформе MAX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Минцифры России — корневой сертификат для доступа к API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4526280"/>
            <a:ext cx="11183112" cy="868680"/>
          </a:xfrm>
          <a:prstGeom prst="roundRect">
            <a:avLst>
              <a:gd name="adj" fmla="val 1052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58952" y="4709160"/>
            <a:ext cx="10671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Документация MAX развивается: перед сдачей состав API и методов сверялся с актуальной версией разделов «API ботов», «MAX Bridge» и «Валидация данных», а не с примерами из сторонних источников.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rk-airunt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8250"/>
            <a:ext cx="304800" cy="304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76325" y="1238250"/>
            <a:ext cx="1333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5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endParaRPr lang="en-US" sz="1425" dirty="0"/>
          </a:p>
        </p:txBody>
      </p:sp>
      <p:sp>
        <p:nvSpPr>
          <p:cNvPr id="4" name="Text 1"/>
          <p:cNvSpPr txBox="1"/>
          <p:nvPr/>
        </p:nvSpPr>
        <p:spPr>
          <a:xfrm>
            <a:off x="2152650" y="1238250"/>
            <a:ext cx="1333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DA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2371725" y="1281113"/>
            <a:ext cx="219075" cy="219075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443163" y="1352550"/>
            <a:ext cx="76200" cy="76200"/>
          </a:xfrm>
          <a:prstGeom prst="ellipse">
            <a:avLst/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667000" y="1238250"/>
            <a:ext cx="76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1847850"/>
            <a:ext cx="495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860" dirty="0"/>
          </a:p>
        </p:txBody>
      </p:sp>
      <p:sp>
        <p:nvSpPr>
          <p:cNvPr id="9" name="Text 6"/>
          <p:cNvSpPr txBox="1"/>
          <p:nvPr/>
        </p:nvSpPr>
        <p:spPr>
          <a:xfrm>
            <a:off x="666750" y="2114550"/>
            <a:ext cx="7048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 сообщение —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запись уже в MAX</a:t>
            </a:r>
            <a:endParaRPr lang="en-US" sz="46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581400"/>
            <a:ext cx="552450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DC4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и мини-приложение работают прямо сейчас. Опишите бизнес одним сообщением — секунд через десять у клиентов будет витрина с записью, а у вас заявки в чате.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752975"/>
            <a:ext cx="1714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В MAX</a:t>
            </a:r>
            <a:endParaRPr lang="en-US" sz="860" dirty="0"/>
          </a:p>
        </p:txBody>
      </p:sp>
      <p:sp>
        <p:nvSpPr>
          <p:cNvPr id="12" name="Text 9"/>
          <p:cNvSpPr txBox="1"/>
          <p:nvPr/>
        </p:nvSpPr>
        <p:spPr>
          <a:xfrm>
            <a:off x="2457450" y="4752975"/>
            <a:ext cx="400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max.ru/t403_hakaton_max_bot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5076825"/>
            <a:ext cx="1714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</a:t>
            </a:r>
            <a:endParaRPr lang="en-US" sz="860" dirty="0"/>
          </a:p>
        </p:txBody>
      </p:sp>
      <p:sp>
        <p:nvSpPr>
          <p:cNvPr id="14" name="Text 11"/>
          <p:cNvSpPr txBox="1"/>
          <p:nvPr/>
        </p:nvSpPr>
        <p:spPr>
          <a:xfrm>
            <a:off x="2457450" y="5076825"/>
            <a:ext cx="400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airuntime.ru/max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5400675"/>
            <a:ext cx="1714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ИСХОДНЫЙ КОД</a:t>
            </a:r>
            <a:endParaRPr lang="en-US" sz="860" dirty="0"/>
          </a:p>
        </p:txBody>
      </p:sp>
      <p:sp>
        <p:nvSpPr>
          <p:cNvPr id="16" name="Text 13"/>
          <p:cNvSpPr txBox="1"/>
          <p:nvPr/>
        </p:nvSpPr>
        <p:spPr>
          <a:xfrm>
            <a:off x="2457450" y="5400675"/>
            <a:ext cx="400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github.com/airuntime-ru/airuntime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10550" y="1524000"/>
            <a:ext cx="3086100" cy="3657600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0" dist="177800" dir="5400000">
              <a:srgbClr val="000000">
                <a:alpha val="55000"/>
              </a:srgbClr>
            </a:outerShdw>
          </a:effectLst>
        </p:spPr>
      </p:sp>
      <p:pic>
        <p:nvPicPr>
          <p:cNvPr id="18" name="Image 1" descr="qr-bo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9650" y="1809750"/>
            <a:ext cx="2247900" cy="224790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8496300" y="4229100"/>
            <a:ext cx="2514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Наведите камеру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8496300" y="4533900"/>
            <a:ext cx="2514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Откроется бот в MAX — опишите свой бизнес и получите витрину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Витрина — AIRuntime × MAX</dc:title>
  <dc:subject>PptxGenJS Presentation</dc:subject>
  <dc:creator>AIRuntime</dc:creator>
  <cp:lastModifiedBy>AIRuntime</cp:lastModifiedBy>
  <cp:revision>1</cp:revision>
  <dcterms:created xsi:type="dcterms:W3CDTF">2026-09-21T21:48:05Z</dcterms:created>
  <dcterms:modified xsi:type="dcterms:W3CDTF">2026-09-21T21:48:05Z</dcterms:modified>
</cp:coreProperties>
</file>