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СЛАЙД 1 · СЛУЖЕБНЫЙ · НЕ ОЦЕНИВАЕТСЯ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информация для проверки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16736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в MAX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2240280" y="1316736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https://max.ru/t403_hakaton_max_bot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«Хакатон МАХ 403», user_id 395683755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938528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2240280" y="1938528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https://airuntime.ru/max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Открывается кнопкой open_app и по ?startapp=&lt;slug&gt;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02920" y="25603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Git-репозиторий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2240280" y="25603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3017520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hash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2240280" y="301752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967024c · ветка main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967024c0cb024ab93c623fc4e6189b29a17cfede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502920" y="3639312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Собственный API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2240280" y="3639312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используется как отдельно проверяемый контракт</a:t>
            </a:r>
            <a:pPr indent="0" marL="0">
              <a:lnSpc>
                <a:spcPct val="105000"/>
              </a:lnSpc>
              <a:buNone/>
            </a:pPr>
            <a:endParaRPr lang="en-US" sz="1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Внутренние эндпоинты — /api/v1/max/*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4261104"/>
            <a:ext cx="1691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Тестовые записи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2240280" y="4261104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требуются: вход — сам аккаунт MAX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720840" y="1371600"/>
            <a:ext cx="4965192" cy="4709160"/>
          </a:xfrm>
          <a:prstGeom prst="roundRect">
            <a:avLst>
              <a:gd name="adj" fmla="val 194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76872" y="1572768"/>
            <a:ext cx="4453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Порядок прохождения основного сценария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976872" y="1975104"/>
            <a:ext cx="4453128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max.ru/t403_hakaton_max_bot, нажать «Начать», затем «Открыть Витрину»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мини-приложении описать бизнес одним сообщением: «Автосервис на Лесной. Диагностика 1500, замена масла 900, шиномонтаж 2400. Работаем с 9 до 20» — и нажать «Собрать витрину»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несколько секунд витрина опубликована: ссылка для клиентов, «Поделиться», «Посмотреть»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Открыть эту ссылку с другого аккаунта MAX — это роль клиента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Выбрать услугу и время, указать имя, нажать «Записаться»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Владельцу в чат с ботом придёт заявка с кнопкой «Открыть заявки»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Нажать «Подтвердить» в приложении — клиенту придёт уведомление в MAX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02920" y="4846320"/>
            <a:ext cx="5760720" cy="1234440"/>
          </a:xfrm>
          <a:prstGeom prst="roundRect">
            <a:avLst>
              <a:gd name="adj" fmla="val 7407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22376" y="5029200"/>
            <a:ext cx="53218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 окружения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MAX_BOT_TOKEN (передаётся отдельно) · MAX_BOT_USERNAME=t403_hakaton_max_bot · MAX_WEBHOOK_SECRET · MAX_MINIAPP_URL · OPENAI_API_KEY. Полный список — в .env.example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33350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33350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33350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371725" y="1376363"/>
            <a:ext cx="219075" cy="21907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443163" y="1447800"/>
            <a:ext cx="76200" cy="76200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667000" y="133350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94310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ТРЕК «ЭФФЕКТИВНЫЙ БИЗНЕС»</a:t>
            </a:r>
            <a:endParaRPr lang="en-US" sz="860" dirty="0"/>
          </a:p>
        </p:txBody>
      </p:sp>
      <p:sp>
        <p:nvSpPr>
          <p:cNvPr id="9" name="Text 6"/>
          <p:cNvSpPr txBox="1"/>
          <p:nvPr/>
        </p:nvSpPr>
        <p:spPr>
          <a:xfrm>
            <a:off x="647700" y="2152650"/>
            <a:ext cx="5334000" cy="1181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</a:t>
            </a:r>
            <a:endParaRPr lang="en-US" sz="84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505200"/>
            <a:ext cx="4762500" cy="876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Рабочий сервис записи в MAX из одного сообщения — без разработчика, без подрядчика, без ожидания.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810125"/>
            <a:ext cx="19050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КОМАНДА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685800" y="5029200"/>
            <a:ext cx="20002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[Название команды]</a:t>
            </a:r>
            <a:endParaRPr lang="en-US" sz="1275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295900"/>
            <a:ext cx="20002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dash" dirty="0">
                <a:solidFill>
                  <a:srgbClr val="8F96A6"/>
                </a:solidFill>
                <a:uFill>
                  <a:solidFill>
                    <a:srgbClr val="59627A"/>
                  </a:solidFill>
                </a:uFill>
                <a:latin typeface="Calibri" pitchFamily="34" charset="0"/>
                <a:ea typeface="Calibri" pitchFamily="34" charset="-122"/>
                <a:cs typeface="Calibri" pitchFamily="34" charset="-120"/>
              </a:rPr>
              <a:t>[Участники и роли]</a:t>
            </a:r>
            <a:endParaRPr lang="en-US" sz="1000" dirty="0"/>
          </a:p>
        </p:txBody>
      </p:sp>
      <p:sp>
        <p:nvSpPr>
          <p:cNvPr id="14" name="Text 11"/>
          <p:cNvSpPr txBox="1"/>
          <p:nvPr/>
        </p:nvSpPr>
        <p:spPr>
          <a:xfrm>
            <a:off x="2838450" y="4810125"/>
            <a:ext cx="238125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</a:t>
            </a:r>
            <a:endParaRPr lang="en-US" sz="860" dirty="0"/>
          </a:p>
        </p:txBody>
      </p:sp>
      <p:sp>
        <p:nvSpPr>
          <p:cNvPr id="15" name="Text 12"/>
          <p:cNvSpPr txBox="1"/>
          <p:nvPr/>
        </p:nvSpPr>
        <p:spPr>
          <a:xfrm>
            <a:off x="2838450" y="5029200"/>
            <a:ext cx="25717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75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 + мини-приложение</a:t>
            </a:r>
            <a:endParaRPr lang="en-US" sz="1275" dirty="0"/>
          </a:p>
        </p:txBody>
      </p:sp>
      <p:sp>
        <p:nvSpPr>
          <p:cNvPr id="16" name="Text 13"/>
          <p:cNvSpPr txBox="1"/>
          <p:nvPr/>
        </p:nvSpPr>
        <p:spPr>
          <a:xfrm>
            <a:off x="2838450" y="5295900"/>
            <a:ext cx="257175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5AC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@t403_hakaton_max_bot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5848350" y="990600"/>
            <a:ext cx="285750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5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ОПИСЫВАЕТ БИЗНЕС</a:t>
            </a:r>
            <a:endParaRPr lang="en-US" sz="825" dirty="0"/>
          </a:p>
        </p:txBody>
      </p:sp>
      <p:pic>
        <p:nvPicPr>
          <p:cNvPr id="18" name="Image 1" descr="bubble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8350" y="1257300"/>
            <a:ext cx="2590800" cy="104775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6010275" y="1352550"/>
            <a:ext cx="2286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Автосервис на Лесной пр. 12. Диагностика подвески 1500, замена масла 900, шиномонтаж 2400. С 9 до 20, +7 812 000-00-00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686800" y="723900"/>
            <a:ext cx="2762250" cy="5380863"/>
          </a:xfrm>
          <a:prstGeom prst="roundRect">
            <a:avLst>
              <a:gd name="adj" fmla="val 8200"/>
            </a:avLst>
          </a:prstGeom>
          <a:solidFill>
            <a:srgbClr val="1E2638"/>
          </a:solidFill>
          <a:ln w="9525">
            <a:solidFill>
              <a:srgbClr val="39445E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5000"/>
              </a:srgbClr>
            </a:outerShdw>
          </a:effectLst>
        </p:spPr>
      </p:sp>
      <p:pic>
        <p:nvPicPr>
          <p:cNvPr id="21" name="Image 2" descr="screen-storefron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58619" y="795718"/>
            <a:ext cx="2618613" cy="5237226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6096000" y="3848100"/>
            <a:ext cx="2857500" cy="1390650"/>
          </a:xfrm>
          <a:prstGeom prst="roundRect">
            <a:avLst>
              <a:gd name="adj" fmla="val 1369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381000" dist="152400" dir="5400000">
              <a:srgbClr val="000000">
                <a:alpha val="5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267450" y="4000500"/>
            <a:ext cx="209550" cy="209550"/>
          </a:xfrm>
          <a:prstGeom prst="ellipse">
            <a:avLst/>
          </a:prstGeom>
          <a:solidFill>
            <a:srgbClr val="1F8A55"/>
          </a:solidFill>
          <a:ln w="12700">
            <a:solidFill>
              <a:srgbClr val="1F8A55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6267450" y="4000500"/>
            <a:ext cx="20955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 Symbol" pitchFamily="34" charset="0"/>
                <a:ea typeface="Segoe UI Symbol" pitchFamily="34" charset="-122"/>
                <a:cs typeface="Segoe UI Symbol" pitchFamily="34" charset="-120"/>
              </a:rPr>
              <a:t>✓</a:t>
            </a:r>
            <a:endParaRPr lang="en-US" sz="950" dirty="0"/>
          </a:p>
        </p:txBody>
      </p:sp>
      <p:sp>
        <p:nvSpPr>
          <p:cNvPr id="25" name="Text 20"/>
          <p:cNvSpPr txBox="1"/>
          <p:nvPr/>
        </p:nvSpPr>
        <p:spPr>
          <a:xfrm>
            <a:off x="6562725" y="3981450"/>
            <a:ext cx="21907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готова</a:t>
            </a:r>
            <a:endParaRPr lang="en-US" sz="1250" dirty="0"/>
          </a:p>
        </p:txBody>
      </p:sp>
      <p:sp>
        <p:nvSpPr>
          <p:cNvPr id="26" name="Text 21"/>
          <p:cNvSpPr txBox="1"/>
          <p:nvPr/>
        </p:nvSpPr>
        <p:spPr>
          <a:xfrm>
            <a:off x="6267450" y="4267200"/>
            <a:ext cx="251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Клиенты записываются по ссылке, заявки приходят в чат с ботом.</a:t>
            </a:r>
            <a:endParaRPr lang="en-US" sz="1050" dirty="0"/>
          </a:p>
        </p:txBody>
      </p:sp>
      <p:sp>
        <p:nvSpPr>
          <p:cNvPr id="27" name="Shape 22"/>
          <p:cNvSpPr/>
          <p:nvPr/>
        </p:nvSpPr>
        <p:spPr>
          <a:xfrm>
            <a:off x="6267450" y="4743450"/>
            <a:ext cx="2514600" cy="352425"/>
          </a:xfrm>
          <a:prstGeom prst="roundRect">
            <a:avLst>
              <a:gd name="adj" fmla="val 29730"/>
            </a:avLst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6267450" y="4743450"/>
            <a:ext cx="251460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Поделиться ссылкой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ХАКАТОН MAX  ·  2026</a:t>
            </a:r>
            <a:endParaRPr lang="en-US" sz="1000" dirty="0"/>
          </a:p>
        </p:txBody>
      </p:sp>
      <p:sp>
        <p:nvSpPr>
          <p:cNvPr id="30" name="Text 2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сделали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234440"/>
            <a:ext cx="11183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Микробизнес услуг ведёт запись руками — в личных сообщениях и по телефону. Витрина превращает одно сообщение в мини-приложении MAX в работающую витрину с онлайн-записью, которую клиенты открывают прямо в MAX. Заявки приходят владельцу в чат с ботом.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02920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04088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704088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сообщение от владельца до готовой витрины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7278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568446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сек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3568446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ссылки, которую можно отправить клиенту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31636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32804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6432804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касания клиента: выбрать услугу и время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95994" y="2148840"/>
            <a:ext cx="2590038" cy="1554480"/>
          </a:xfrm>
          <a:prstGeom prst="roundRect">
            <a:avLst>
              <a:gd name="adj" fmla="val 588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297162" y="2295144"/>
            <a:ext cx="2187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pPr indent="0" marL="0">
              <a:buNone/>
            </a:pPr>
            <a:endParaRPr lang="en-US" sz="3200" dirty="0"/>
          </a:p>
        </p:txBody>
      </p:sp>
      <p:sp>
        <p:nvSpPr>
          <p:cNvPr id="16" name="Text 14"/>
          <p:cNvSpPr txBox="1"/>
          <p:nvPr/>
        </p:nvSpPr>
        <p:spPr>
          <a:xfrm>
            <a:off x="9297162" y="2770632"/>
            <a:ext cx="218770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строк кода и сторонних сервисов у предпринимателя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22376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Самозанятые и микро-ИП в услугах: автосервис, барбершоп, мастер маникюра, репетитор, клининг. 1–5 человек, без сайта и без CRM.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4322064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541520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закрывает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Ручную запись: заявки ночью, двойные брони, переписку вместо работы. Клиент и владелец остаются в MAX.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141208" y="3977640"/>
            <a:ext cx="3544824" cy="2194560"/>
          </a:xfrm>
          <a:prstGeom prst="roundRect">
            <a:avLst>
              <a:gd name="adj" fmla="val 41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8360664" y="4160520"/>
            <a:ext cx="310591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именно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чат-бота, телефон берётся из аккаунта MAX, ответ приходит туда же, где клиент записывался.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АУДИТОРИЯ И ПРОБЛЕМА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именно и что именно болит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5943600" cy="3429000"/>
          </a:xfrm>
          <a:prstGeom prst="roundRect">
            <a:avLst>
              <a:gd name="adj" fmla="val 2667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3619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Формулировка проблемы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20240"/>
            <a:ext cx="54406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микросервиса в сфере услуг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в ситуации, когда клиенты пишут в личные сообщения в любое время,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хочет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принимать записи без ручного согласования каждой,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 сталкивается с тем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что онлайн-запись требует либо платной CRM с настройкой, либо разработки сайта или бота, </a:t>
            </a:r>
            <a:pPr indent="0" marL="0">
              <a:lnSpc>
                <a:spcPct val="120000"/>
              </a:lnSpc>
              <a:buNone/>
            </a:pPr>
            <a:r>
              <a:rPr lang="en-US" sz="145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из-за чего</a:t>
            </a:r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продолжает вести запись вручную — теряет ночные заявки, допускает двойные брони и тратит рабочее время на переписку.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9377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Сегмент выбран узко намеренно: одна отрасль, один сценарий, один участок процесса, который цифровое решение закрывает от начала до результата.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12280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013448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6,6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7013448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субъектов МСП в едином реестре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013448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июль 2026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9377172" y="13258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578340" y="14721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9578340" y="19476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всех действующих юрлиц и ИП — это МСП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578340" y="26974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812280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013448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+3,5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%</a:t>
            </a:r>
            <a:endParaRPr lang="en-US" sz="3200" dirty="0"/>
          </a:p>
        </p:txBody>
      </p:sp>
      <p:sp>
        <p:nvSpPr>
          <p:cNvPr id="18" name="Text 16"/>
          <p:cNvSpPr txBox="1"/>
          <p:nvPr/>
        </p:nvSpPr>
        <p:spPr>
          <a:xfrm>
            <a:off x="7013448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рост числа субъектов МСП год к году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7013448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России, 2026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377172" y="3154680"/>
            <a:ext cx="2308860" cy="1664208"/>
          </a:xfrm>
          <a:prstGeom prst="roundRect">
            <a:avLst>
              <a:gd name="adj" fmla="val 549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578340" y="3300984"/>
            <a:ext cx="19065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</a:t>
            </a:r>
            <a:pPr indent="0" marL="0">
              <a:buNone/>
            </a:pPr>
            <a:r>
              <a:rPr lang="en-US" sz="1500" b="1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млн</a:t>
            </a:r>
            <a:endParaRPr lang="en-US" sz="3200" dirty="0"/>
          </a:p>
        </p:txBody>
      </p:sp>
      <p:sp>
        <p:nvSpPr>
          <p:cNvPr id="22" name="Text 20"/>
          <p:cNvSpPr txBox="1"/>
          <p:nvPr/>
        </p:nvSpPr>
        <p:spPr>
          <a:xfrm>
            <a:off x="9578340" y="3776472"/>
            <a:ext cx="190652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работников — заявленная кадровая потребность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578340" y="4526280"/>
            <a:ext cx="19065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/ Роструд, май 2026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5029200"/>
            <a:ext cx="4873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описывают размер и динамику аудитории. Оценку доли микробизнеса без онлайн-записи мы выносим в допущения — см. слайд 14.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УЧАСТОК ПРОЦЕССА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меняется в пользовательском пути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Мы не автоматизируем весь бизнес-процесс — только тот участок, где эффект заметен сразу.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IS — СЕГОДНЯ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пишет в личные сообщения или звонит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отвечает вручную, сверяется с блокнотом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Согласование времени занимает несколько сообщений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Ночные заявки остаются без ответа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Прайс приходится пересказывать каждому заново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Подтверждение и напоминание — снова вручную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54496" y="1691640"/>
            <a:ext cx="5431536" cy="2697480"/>
          </a:xfrm>
          <a:prstGeom prst="roundRect">
            <a:avLst>
              <a:gd name="adj" fmla="val 339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01952"/>
            <a:ext cx="49194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F8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BE — С ВИТРИНОЙ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240280"/>
            <a:ext cx="4919472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Исчезает пересказ прайса: услуги и цены видны в витрине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Упрощается выбор времени: клиент берёт слот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Автоматически собирается заявка и падает в чат владельца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Быстрее приходит ответ: подтверждение — одна кнопка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Проще результат: запись принимается круглосуточно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по-прежнему решает сам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02920" y="4572000"/>
            <a:ext cx="11183112" cy="1005840"/>
          </a:xfrm>
          <a:prstGeom prst="roundRect">
            <a:avLst>
              <a:gd name="adj" fmla="val 909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73168"/>
            <a:ext cx="106710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Гипотеза.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мы поможем владельцу микросервиса принимать записи витриной в MAX, собранной из одного сообщения, доля заявок, дошедших до подтверждения, вырастет, а время на переписку сократится — потому что клиент проходит путь сам, а владельцу остаётся одно решение.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1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Владелец: одно сообщение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22376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22376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22376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Открывает бота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22376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Находит @t403_hakaton_max_bot и нажимает «Начать» — в ответ одна кнопка «Открыть Витрину». Регистрации нет.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67278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86734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586734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586734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Описывает бизнес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3586734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Обычными словами, одним сообщением прямо в мини-приложении: название, услуги, цены, часы работы.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31636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6451092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51092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451092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Получает витрину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6451092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Через несколько секунд витрина опубликована: ссылка для клиентов, «Поделиться» в чаты MAX и просмотр глазами клиента.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095994" y="1325880"/>
            <a:ext cx="2590038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315450" y="1517904"/>
            <a:ext cx="329184" cy="329184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1545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9315450" y="1920240"/>
            <a:ext cx="215112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Правит текстом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9315450" y="2240280"/>
            <a:ext cx="215112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«Добавь развал-схождение 3000», «убери слоты на завтра» — правка тем же способом, что и создание. Ссылка не меняется.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02920" y="3520440"/>
            <a:ext cx="11183112" cy="2057400"/>
          </a:xfrm>
          <a:prstGeom prst="roundRect">
            <a:avLst>
              <a:gd name="adj" fmla="val 4444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777240" y="37033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приходит владельцу в чат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77240" y="4041648"/>
            <a:ext cx="5120640" cy="132588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DDE4EE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14400" y="41605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Новая заявка · Автосервис на Лесной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Диагностика подвески · Сегодня 14:00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Пётр, +7 999 000-11-22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«Mazda 6, стучит подвеска»</a:t>
            </a:r>
            <a:endParaRPr lang="en-US" sz="10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0D111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 Открыть заявки ]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172200" y="3703320"/>
            <a:ext cx="551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Ссылку можно раздать как угодно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6172200" y="4069080"/>
            <a:ext cx="5513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Отправить в переписке существующим клиентам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Повесить QR-кодом на стойке, в витрине, на визитке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Поставить в описание канала или профиля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172200" y="5029200"/>
            <a:ext cx="55138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Ссылка открывает мини-приложение внутри MAX — клиент не уходит в браузер и ничего не устанавливает.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ОСНОВНОЙ СЦЕНАРИЙ · ЧАСТЬ 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Клиент: два касания до записи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226820" y="1371600"/>
            <a:ext cx="1975104" cy="3847503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5" name="Image 0" descr="screen-storefro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8173" y="1422953"/>
            <a:ext cx="1872399" cy="3744797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5383695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Выбор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5676303"/>
            <a:ext cx="3422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Услуги с ценами и длительностью, ближайшие слоты. Имя подставляется из профиля MAX.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5106924" y="1371600"/>
            <a:ext cx="1975104" cy="3847503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9" name="Image 1" descr="screen-book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277" y="1422953"/>
            <a:ext cx="1872399" cy="374479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383024" y="5383695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Отправка</a:t>
            </a:r>
            <a:endParaRPr lang="en-US" sz="1400" dirty="0"/>
          </a:p>
        </p:txBody>
      </p:sp>
      <p:sp>
        <p:nvSpPr>
          <p:cNvPr id="11" name="Text 7"/>
          <p:cNvSpPr txBox="1"/>
          <p:nvPr/>
        </p:nvSpPr>
        <p:spPr>
          <a:xfrm>
            <a:off x="4383024" y="5676303"/>
            <a:ext cx="3422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MAX по кнопке — вводить ничего не нужно. Кнопка действия закреплена внизу.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8987028" y="1371600"/>
            <a:ext cx="1975104" cy="3847503"/>
          </a:xfrm>
          <a:prstGeom prst="roundRect">
            <a:avLst>
              <a:gd name="adj" fmla="val 8200"/>
            </a:avLst>
          </a:prstGeom>
          <a:solidFill>
            <a:srgbClr val="DCE3EE"/>
          </a:solidFill>
          <a:ln w="9525">
            <a:solidFill>
              <a:srgbClr val="CCD5E3"/>
            </a:solidFill>
            <a:prstDash val="solid"/>
          </a:ln>
          <a:effectLst>
            <a:outerShdw sx="100000" sy="100000" kx="0" ky="0" algn="bl" rotWithShape="0" blurRad="203200" dist="76200" dir="5400000">
              <a:srgbClr val="091228">
                <a:alpha val="20000"/>
              </a:srgbClr>
            </a:outerShdw>
          </a:effectLst>
        </p:spPr>
      </p:sp>
      <p:pic>
        <p:nvPicPr>
          <p:cNvPr id="13" name="Image 2" descr="screen-owne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381" y="1422953"/>
            <a:ext cx="1872399" cy="3744797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263128" y="5383695"/>
            <a:ext cx="342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Ответ</a:t>
            </a:r>
            <a:endParaRPr lang="en-US" sz="1400" dirty="0"/>
          </a:p>
        </p:txBody>
      </p:sp>
      <p:sp>
        <p:nvSpPr>
          <p:cNvPr id="15" name="Text 10"/>
          <p:cNvSpPr txBox="1"/>
          <p:nvPr/>
        </p:nvSpPr>
        <p:spPr>
          <a:xfrm>
            <a:off x="8263128" y="5676303"/>
            <a:ext cx="34229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Заявка приходит владельцу в чат и в кабинет. Подтверждение — одна кнопка, клиент узнаёт в MAX.</a:t>
            </a:r>
            <a:endParaRPr lang="en-US" sz="1100" dirty="0"/>
          </a:p>
        </p:txBody>
      </p:sp>
      <p:sp>
        <p:nvSpPr>
          <p:cNvPr id="16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7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ОЖИДАЕМЫЙ ЭФФЕКТ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должно измениться и как это проверить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этапе хакатона это гипотезы. Важно не то, какие цифры мы заявим, а то, что каждую можно измерить после пилота.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Метрики, которые снимает сам продукт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77440"/>
            <a:ext cx="491947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 — открыл витрину → отправил заявку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до подтверждения — от заявки до нажатия кнопки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заявок вне рабочих часов — замер того, что терялось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Ручных сообщений на одну запись — целевое значение 0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Время от «описал» до первой заявки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58952" y="5257800"/>
            <a:ext cx="491947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события уже проходят через наш бэкенд — отдельная аналитика не нужна.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54496" y="1737360"/>
            <a:ext cx="5431536" cy="4160520"/>
          </a:xfrm>
          <a:prstGeom prst="roundRect">
            <a:avLst>
              <a:gd name="adj" fmla="val 219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510528" y="1938528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измеряем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10528" y="2377440"/>
            <a:ext cx="491947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Базовая линия снимается до запуска: неделя ручного подсчёта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Пилот — та же неделя через витрину, сравнение по тем же величинам</a:t>
            </a:r>
            <a:endParaRPr lang="en-US" sz="13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Сравниваем на одном и том же бизнесе, а не между разными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510528" y="4114800"/>
            <a:ext cx="4919472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7DBF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93408" y="4315968"/>
            <a:ext cx="45537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Критерий успеха пилота: 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после недели отказывается возвращаться к ручной записи, и хотя бы одна заявка пришла вне рабочих часов и была подтверждена.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АРХИТЕКТУРА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Состав решения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МЕССЕНДЖЕР MAX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371600"/>
            <a:ext cx="3566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БЭКЕНД AIRUNTIME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8595360" y="1371600"/>
            <a:ext cx="3090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8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ХРАНЕНИЕ И ИНФРАСТРУКТУРА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0408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Чат-бот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70408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приветствие и уведомления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0284F"/>
          </a:solidFill>
          <a:ln w="12700">
            <a:solidFill>
              <a:srgbClr val="3E6DA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0408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70408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витрина, заявки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572000" y="169164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773168" y="181051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4773168" y="20848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секрет в пути, всегда 200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265176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73168" y="277063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мини-аппа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773168" y="30449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— подпись initData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572000" y="3611880"/>
            <a:ext cx="3566160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773168" y="373075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Генератор витрины</a:t>
            </a:r>
            <a:endParaRPr lang="en-US" sz="1350" dirty="0"/>
          </a:p>
        </p:txBody>
      </p:sp>
      <p:sp>
        <p:nvSpPr>
          <p:cNvPr id="21" name="Text 19"/>
          <p:cNvSpPr txBox="1"/>
          <p:nvPr/>
        </p:nvSpPr>
        <p:spPr>
          <a:xfrm>
            <a:off x="4773168" y="4005072"/>
            <a:ext cx="3163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→ валидируемый конфиг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595360" y="169164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796528" y="181051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</a:t>
            </a:r>
            <a:endParaRPr lang="en-US" sz="1350" dirty="0"/>
          </a:p>
        </p:txBody>
      </p:sp>
      <p:sp>
        <p:nvSpPr>
          <p:cNvPr id="24" name="Text 22"/>
          <p:cNvSpPr txBox="1"/>
          <p:nvPr/>
        </p:nvSpPr>
        <p:spPr>
          <a:xfrm>
            <a:off x="8796528" y="20848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владельцы, витрины, заявки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8595360" y="265176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796528" y="277063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Traefik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8796528" y="30449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HTTPS, сертификат Минцифры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595360" y="3611880"/>
            <a:ext cx="3090672" cy="749808"/>
          </a:xfrm>
          <a:prstGeom prst="roundRect">
            <a:avLst>
              <a:gd name="adj" fmla="val 1097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796528" y="373075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</a:t>
            </a:r>
            <a:endParaRPr lang="en-US" sz="1350" dirty="0"/>
          </a:p>
        </p:txBody>
      </p:sp>
      <p:sp>
        <p:nvSpPr>
          <p:cNvPr id="30" name="Text 28"/>
          <p:cNvSpPr txBox="1"/>
          <p:nvPr/>
        </p:nvSpPr>
        <p:spPr>
          <a:xfrm>
            <a:off x="8796528" y="4005072"/>
            <a:ext cx="26883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внешний, с фоллбэком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123944" y="206654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4123944" y="3026664"/>
            <a:ext cx="39319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193024" y="206654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8193024" y="302666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193024" y="3986784"/>
            <a:ext cx="347472" cy="0"/>
          </a:xfrm>
          <a:prstGeom prst="line">
            <a:avLst/>
          </a:prstGeom>
          <a:noFill/>
          <a:ln w="19050">
            <a:solidFill>
              <a:srgbClr val="7FB6FF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02920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22376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— это данные, а не код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мультитенантный мини-апп рендерит все витрины из валидированного конфига. «Описал → клиент может записаться» занимает секунды и не ломается от неудачного ответа модели.</a:t>
            </a:r>
            <a:endParaRPr lang="en-US" sz="1500" dirty="0"/>
          </a:p>
        </p:txBody>
      </p:sp>
      <p:sp>
        <p:nvSpPr>
          <p:cNvPr id="38" name="Shape 36"/>
          <p:cNvSpPr/>
          <p:nvPr/>
        </p:nvSpPr>
        <p:spPr>
          <a:xfrm>
            <a:off x="4322064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4541520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Две разные модели доверия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аутентифицируется секретом в пути — MAX не подписывает доставки. Мини-апп — подписью initData. Ни один эндпоинт не принимает id пользователя из тела запроса.</a:t>
            </a:r>
            <a:endParaRPr lang="en-US" sz="1500" dirty="0"/>
          </a:p>
        </p:txBody>
      </p:sp>
      <p:sp>
        <p:nvSpPr>
          <p:cNvPr id="40" name="Shape 38"/>
          <p:cNvSpPr/>
          <p:nvPr/>
        </p:nvSpPr>
        <p:spPr>
          <a:xfrm>
            <a:off x="8141208" y="4617720"/>
            <a:ext cx="3544824" cy="1463040"/>
          </a:xfrm>
          <a:prstGeom prst="roundRect">
            <a:avLst>
              <a:gd name="adj" fmla="val 625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60664" y="4800600"/>
            <a:ext cx="310591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Отказоустойчивость по умолчанию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Вебхук всегда отвечает 200: ошибка обработчика стала бы штормом повторов. Если LLM недоступна, витрина собирается черновиком.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ИСПОЛЬЗОВАНИЕ ПЛАТФОРМЫ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берём у MAX и зачем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Каждая возможность закрывает шаг сценария, а не добавлена ради галочки.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22376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open_app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открывается внутри чат-бота. Клиент не уходит в браузер и ничего не устанавливает.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22064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41520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startapp deep link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ссылка на витрину, пригодная для QR-кода. Она же приводит клиента в бота.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141208" y="17830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60664" y="19659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requestContact()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берётся из аккаунта MAX по кнопке и приходит подписанным.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shareMaxContent()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«Поделиться» открывает родной экран MAX «Отправить в чат» — ссылка уходит клиентам, не выходя из мессенджера.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getViewportSize / getLaunchContext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Интерфейс подстраивается под область просмотра и под источник запуска.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3355848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3538728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Обратная связь замыкается в MAX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Клиент записался в MAX — и ответ получает там же, а не в письме.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02920" y="49834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58952" y="5138928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Мобильная и веб-версия.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 — обычные HTML, CSS и JavaScript на HTTPS, вёрстка проверена от 320 px. Функциональность одинакова в обеих версиях; MAX Bridge деградирует мягко, если метод в конкретной сборке недоступен.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И ИНТЕГРАЦИИ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Откуда берутся данные и что мы с ними делаем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в решении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Описание бизнеса — вводит сам владелец в мини-приложении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Профиль и идентификатор MAX — из подписанных параметров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Телефон клиента — только если он сам им поделился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Заявки — то, что клиент выбрал в витрине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502920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58952" y="36118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НЕ делаем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58952" y="3959352"/>
            <a:ext cx="4919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собираем данные, которые пользователь не ввёл сам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имитируем интеграции с государственными системами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передаём токены и секреты в модель и не храним в репозитории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включаем продуктовую аналитику на поверхности мини-аппа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54496" y="1371600"/>
            <a:ext cx="5431536" cy="1874520"/>
          </a:xfrm>
          <a:prstGeom prst="roundRect">
            <a:avLst>
              <a:gd name="adj" fmla="val 4878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510528" y="155448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10528" y="1901952"/>
            <a:ext cx="4919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Bot API — platform-api2.max.ru: вебхук, сообщения, кнопки.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контакта. Реальная</a:t>
            </a:r>
            <a:endParaRPr lang="en-US" sz="12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LLM-провайдер — описание → конфигурация витрины, с фоллбэком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54496" y="3429000"/>
            <a:ext cx="5431536" cy="1965960"/>
          </a:xfrm>
          <a:prstGeom prst="roundRect">
            <a:avLst>
              <a:gd name="adj" fmla="val 4651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73952" y="3611880"/>
            <a:ext cx="499262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Смоделированные данные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демонстрации используются витрины, созданные нами при проверке сценария: «Автосервис на Лесной» и подобные. Это не реальные организации, а примеры, введённые вручную через того же бота, которым пользуется предприниматель. Данные не подставлялись в обход продуктового сценария.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ПОТЕНЦИАЛ МАСШТАБИРОВАНИЯ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остаётся неизменным, а что придётся менять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Сильное решение тиражируется не потому, что перечислено много регионов, а потому, что понятно, как именно.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Ядро продукта — переносится без изменений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Механика «одно сообщение → работающий сервис в MAX»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витрины: позиции, цена, длительность, слоты, поля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Диалог владельца: создание, правка текстом, публикация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Маршрут заявки: клиент → чат владельца → ответ клиенту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Модель доверия и проверка подписи стартовых параметров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Мультитенантный рендер: новый арендатор не требует деплоя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54496" y="1783080"/>
            <a:ext cx="5431536" cy="2286000"/>
          </a:xfrm>
          <a:prstGeom prst="roundRect">
            <a:avLst>
              <a:gd name="adj" fmla="val 4000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10528" y="1965960"/>
            <a:ext cx="4919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9A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Переменная часть — адаптируется под контекст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10528" y="2313432"/>
            <a:ext cx="4919472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витрины: запись → меню и заказ → заявка. Заложены три типа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Словарь отрасли: «услуга» / «позиция» / «объект» в подсказках модели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слотов: длительность, рабочие часы, праздники региона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Роли участников: один мастер → сотрудники → филиалы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Интеграции: календарь, складские остатки, онлайн-оплата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22376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тиражируем первым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Общепит: то же «выбрать позицию → оставить заявку». Тип menu уже поддержан.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4322064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541520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контекст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Локальная аренда: инвентарь, сутки вместо часов, залог. Понадобится календарь занятости.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8141208" y="4297680"/>
            <a:ext cx="3544824" cy="1417320"/>
          </a:xfrm>
          <a:prstGeom prst="roundRect">
            <a:avLst>
              <a:gd name="adj" fmla="val 6452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60664" y="4480560"/>
            <a:ext cx="310591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витрин при росте, лимиты на владельца (заложены), партнёрский профиль MAX.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СЦЕНАРИЙ ПИЛОТА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ограниченный запуск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22376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Для кого и где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микросервисов услуг в одном районе одного города. Критерий: ведут запись в личных сообщениях и не имеют сайта.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322064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41520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встроится в процесс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Витрина заменяет пересказ прайса и согласование времени. Приём, оплата, сама услуга — как было.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8141208" y="137160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360664" y="155448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участвует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(создаёт и подтверждает), его клиенты, мы (смотрим метрики). Внешние владельцы процесса не нужны.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02920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722376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клиенты получат доступ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Владелец рассылает ссылку существующим клиентам и вешает QR-код на точке. Аудитория у бизнеса уже есть.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322064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4541520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понадобится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Верифицированный профиль на «MAX для партнёров», модерация бота, домен с HTTPS, ключ LLM-провайдера.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8141208" y="3063240"/>
            <a:ext cx="3544824" cy="1536192"/>
          </a:xfrm>
          <a:prstGeom prst="roundRect">
            <a:avLst>
              <a:gd name="adj" fmla="val 5952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8360664" y="3246120"/>
            <a:ext cx="3105912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Следующий шаг после пилота</a:t>
            </a:r>
            <a:pPr indent="0" marL="0">
              <a:lnSpc>
                <a:spcPct val="112000"/>
              </a:lnSpc>
              <a:buNone/>
            </a:pPr>
            <a:r>
              <a:rPr lang="en-US" sz="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Если критерий успеха выполнен — открываем тип menu для общепита в том же районе, сохраняя ядро.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02920" y="489204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58952" y="5074920"/>
            <a:ext cx="10671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Метрики пилота: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доля доведённых записей, время до подтверждения, доля заявок вне рабочих часов, число ручных сообщений на запись — все снимаются самим продуктом и сравниваются с базовой линией, собранной до запуска.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ОГРАНИЧЕНИЯ, РИСКИ, ДОПУЩЕНИЯ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мы знаем и чего пока не знаем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170432"/>
            <a:ext cx="9170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Разделяем подтверждённое источником и то, что остаётся нашей гипотезой.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02920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58952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007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ОГРАНИЧЕНИЯ MVP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Слоты — текстовые варианты, а не календарь занятости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Нет онлайн-оплаты: витрина доводит до заявки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владелец на витрину, без сотрудников и ролей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 10 витрин на владельца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Напоминания клиенту пока не отправляются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2064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8096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ДОПУЩЕНИЯ — ТРЕБУЮТ ПРОВЕРКИ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4578096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заметная доля микросервисов ведёт запись вручную и считает это проблемой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владелец опишет бизнес одним сообщением, а не бросит на полпути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клиенту привычнее записаться в MAX, чем написать в личные сообщения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Оценки стоимости альтернатив мы не подтверждали исследованием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141208" y="1783080"/>
            <a:ext cx="3544824" cy="2926080"/>
          </a:xfrm>
          <a:prstGeom prst="roundRect">
            <a:avLst>
              <a:gd name="adj" fmla="val 3125"/>
            </a:avLst>
          </a:prstGeom>
          <a:solidFill>
            <a:srgbClr val="F3F6FB"/>
          </a:solidFill>
          <a:ln w="12700">
            <a:solidFill>
              <a:srgbClr val="DDE4EE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397240" y="1965960"/>
            <a:ext cx="3032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20" kern="0" dirty="0">
                <a:solidFill>
                  <a:srgbClr val="D311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РИСКИ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397240" y="2313432"/>
            <a:ext cx="3032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Качество генерации: модель может неверно разобрать описание. Митигация — правка текстом и фоллбэк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Доступность LLM: витрина собирается черновиком, сценарий не блокируется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Модерация и доверие: при росте числа арендаторов нужна проверка содержимого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02920" y="4937760"/>
            <a:ext cx="11183112" cy="914400"/>
          </a:xfrm>
          <a:prstGeom prst="roundRect">
            <a:avLst>
              <a:gd name="adj" fmla="val 10000"/>
            </a:avLst>
          </a:prstGeom>
          <a:solidFill>
            <a:srgbClr val="EAF1FE"/>
          </a:solidFill>
          <a:ln w="12700">
            <a:solidFill>
              <a:srgbClr val="C7DBFB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58952" y="5102352"/>
            <a:ext cx="106710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уже проверено на практике: </a:t>
            </a:r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сквозной путь «одно сообщение → заявка в чате владельца» проходит целиком и покрыт 54 автотестами, включая попытки подделать подпись стартовых параметров, подставить чужой токен, переиспользовать просроченные параметры и записаться на услугу, которой в витрине нет.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798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10896"/>
            <a:ext cx="111831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ИСТОЧНИКИ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566928"/>
            <a:ext cx="1118311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что мы опирались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02920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58952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об аудитории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758952" y="2103120"/>
            <a:ext cx="48966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ФНС России — Единый реестр субъектов МСП, июль 2026: 6,6 млн субъектов, 81,8% всех действующих юрлиц и ИП, рост 3,5% год к году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Росстат по данным Роструда — заявленная работодателями потребность в работниках, конец мая 2026</a:t>
            </a:r>
            <a:endParaRPr lang="en-US" sz="1150" dirty="0"/>
          </a:p>
        </p:txBody>
      </p:sp>
      <p:sp>
        <p:nvSpPr>
          <p:cNvPr id="7" name="Text 5"/>
          <p:cNvSpPr txBox="1"/>
          <p:nvPr/>
        </p:nvSpPr>
        <p:spPr>
          <a:xfrm>
            <a:off x="758952" y="3858768"/>
            <a:ext cx="48966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C8A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Показатели приведены по материалам задания трека со ссылкой на первоисточники.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77356" y="1554480"/>
            <a:ext cx="5408676" cy="2743200"/>
          </a:xfrm>
          <a:prstGeom prst="roundRect">
            <a:avLst>
              <a:gd name="adj" fmla="val 3333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533388" y="1755648"/>
            <a:ext cx="48966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Техническая документация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33388" y="2103120"/>
            <a:ext cx="4896612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для разработчиков — API ботов: методы, вебхуки, типы кнопок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Bridge — стартовые параметры, запрос контакта, контекст запуска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Валидация данных MAX — алгоритм проверки подписи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Правила размещения чат-ботов и мини-приложений на платформе MAX</a:t>
            </a:r>
            <a:endParaRPr lang="en-US" sz="1150" dirty="0"/>
          </a:p>
          <a:p>
            <a:pPr marL="342900" indent="-342900">
              <a:lnSpc>
                <a:spcPct val="110000"/>
              </a:lnSpc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Минцифры России — корневой сертификат для доступа к API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02920" y="4526280"/>
            <a:ext cx="11183112" cy="868680"/>
          </a:xfrm>
          <a:prstGeom prst="roundRect">
            <a:avLst>
              <a:gd name="adj" fmla="val 10526"/>
            </a:avLst>
          </a:prstGeom>
          <a:solidFill>
            <a:srgbClr val="141C2E"/>
          </a:solidFill>
          <a:ln w="12700">
            <a:solidFill>
              <a:srgbClr val="2A3550"/>
            </a:solidFill>
            <a:prstDash val="solid"/>
          </a:ln>
          <a:effectLst>
            <a:outerShdw sx="100000" sy="100000" kx="0" ky="0" algn="bl" rotWithShape="0" blurRad="127000" dist="25400" dir="5400000">
              <a:srgbClr val="0B1730">
                <a:alpha val="7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58952" y="4709160"/>
            <a:ext cx="106710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A9B7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Документация MAX развивается: перед сдачей состав API и методов сверялся с актуальной версией разделов «API ботов», «MAX Bridge» и «Валидация данных», а не с примерами из сторонних источников.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mark-airuntim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238250"/>
            <a:ext cx="304800" cy="3048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76325" y="1238250"/>
            <a:ext cx="1333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25" b="1" spc="8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endParaRPr lang="en-US" sz="1425" dirty="0"/>
          </a:p>
        </p:txBody>
      </p:sp>
      <p:sp>
        <p:nvSpPr>
          <p:cNvPr id="4" name="Text 1"/>
          <p:cNvSpPr txBox="1"/>
          <p:nvPr/>
        </p:nvSpPr>
        <p:spPr>
          <a:xfrm>
            <a:off x="2152650" y="1238250"/>
            <a:ext cx="1333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DA6B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2371725" y="1281113"/>
            <a:ext cx="219075" cy="219075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2443163" y="1352550"/>
            <a:ext cx="76200" cy="76200"/>
          </a:xfrm>
          <a:prstGeom prst="ellipse">
            <a:avLst/>
          </a:prstGeom>
          <a:solidFill>
            <a:srgbClr val="0077FF"/>
          </a:solidFill>
          <a:ln w="12700">
            <a:solidFill>
              <a:srgbClr val="0077F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2667000" y="1238250"/>
            <a:ext cx="762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1847850"/>
            <a:ext cx="49530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8E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СПАСИБО ЗА ВНИМАНИЕ</a:t>
            </a:r>
            <a:endParaRPr lang="en-US" sz="860" dirty="0"/>
          </a:p>
        </p:txBody>
      </p:sp>
      <p:sp>
        <p:nvSpPr>
          <p:cNvPr id="9" name="Text 6"/>
          <p:cNvSpPr txBox="1"/>
          <p:nvPr/>
        </p:nvSpPr>
        <p:spPr>
          <a:xfrm>
            <a:off x="666750" y="2114550"/>
            <a:ext cx="704850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 сообщение —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 запись уже в MAX</a:t>
            </a:r>
            <a:endParaRPr lang="en-US" sz="460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3581400"/>
            <a:ext cx="5524500" cy="819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50" dirty="0">
                <a:solidFill>
                  <a:srgbClr val="BDC4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и мини-приложение работают прямо сейчас. Опишите бизнес одним сообщением — секунд через десять у клиентов будет витрина с записью, а у вас заявки в чате.</a:t>
            </a:r>
            <a:endParaRPr lang="en-US" sz="1450" dirty="0"/>
          </a:p>
        </p:txBody>
      </p:sp>
      <p:sp>
        <p:nvSpPr>
          <p:cNvPr id="11" name="Text 8"/>
          <p:cNvSpPr txBox="1"/>
          <p:nvPr/>
        </p:nvSpPr>
        <p:spPr>
          <a:xfrm>
            <a:off x="685800" y="47529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БОТ В MAX</a:t>
            </a:r>
            <a:endParaRPr lang="en-US" sz="860" dirty="0"/>
          </a:p>
        </p:txBody>
      </p:sp>
      <p:sp>
        <p:nvSpPr>
          <p:cNvPr id="12" name="Text 9"/>
          <p:cNvSpPr txBox="1"/>
          <p:nvPr/>
        </p:nvSpPr>
        <p:spPr>
          <a:xfrm>
            <a:off x="2457450" y="47529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max.ru/t403_hakaton_max_bot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685800" y="507682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МИНИ-ПРИЛОЖЕНИЕ</a:t>
            </a:r>
            <a:endParaRPr lang="en-US" sz="860" dirty="0"/>
          </a:p>
        </p:txBody>
      </p:sp>
      <p:sp>
        <p:nvSpPr>
          <p:cNvPr id="14" name="Text 11"/>
          <p:cNvSpPr txBox="1"/>
          <p:nvPr/>
        </p:nvSpPr>
        <p:spPr>
          <a:xfrm>
            <a:off x="2457450" y="507682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airuntime.ru/max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685800" y="5400675"/>
            <a:ext cx="1714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spc="200" kern="0" dirty="0">
                <a:solidFill>
                  <a:srgbClr val="7B81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ИСХОДНЫЙ КОД</a:t>
            </a:r>
            <a:endParaRPr lang="en-US" sz="860" dirty="0"/>
          </a:p>
        </p:txBody>
      </p:sp>
      <p:sp>
        <p:nvSpPr>
          <p:cNvPr id="16" name="Text 13"/>
          <p:cNvSpPr txBox="1"/>
          <p:nvPr/>
        </p:nvSpPr>
        <p:spPr>
          <a:xfrm>
            <a:off x="2457450" y="5400675"/>
            <a:ext cx="40005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github.com/airuntime-ru/airuntime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8210550" y="1524000"/>
            <a:ext cx="3086100" cy="3657600"/>
          </a:xfrm>
          <a:prstGeom prst="roundRect">
            <a:avLst>
              <a:gd name="adj" fmla="val 8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0" dist="177800" dir="5400000">
              <a:srgbClr val="000000">
                <a:alpha val="55000"/>
              </a:srgbClr>
            </a:outerShdw>
          </a:effectLst>
        </p:spPr>
      </p:sp>
      <p:pic>
        <p:nvPicPr>
          <p:cNvPr id="18" name="Image 1" descr="qr-b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29650" y="1809750"/>
            <a:ext cx="2247900" cy="2247900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8496300" y="4229100"/>
            <a:ext cx="2514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D11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Наведите камеру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496300" y="4533900"/>
            <a:ext cx="25146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4A54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Откроется бот в MAX — опишите свой бизнес и получите витрину</a:t>
            </a:r>
            <a:endParaRPr lang="en-US" sz="1100" dirty="0"/>
          </a:p>
        </p:txBody>
      </p:sp>
      <p:sp>
        <p:nvSpPr>
          <p:cNvPr id="21" name="Text 17"/>
          <p:cNvSpPr txBox="1"/>
          <p:nvPr/>
        </p:nvSpPr>
        <p:spPr>
          <a:xfrm>
            <a:off x="502920" y="63825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AIRUNTIME</a:t>
            </a:r>
            <a:pPr indent="0" marL="0">
              <a:buNone/>
            </a:pPr>
            <a:r>
              <a:rPr lang="en-US" sz="1000" spc="120" kern="0" dirty="0">
                <a:solidFill>
                  <a:srgbClr val="5C6B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×  </a:t>
            </a:r>
            <a:pPr indent="0" marL="0">
              <a:buNone/>
            </a:pPr>
            <a:r>
              <a:rPr lang="en-US" sz="1000" b="1" spc="120" kern="0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</a:t>
            </a:r>
            <a:endParaRPr lang="en-US" sz="1000" dirty="0"/>
          </a:p>
        </p:txBody>
      </p:sp>
      <p:sp>
        <p:nvSpPr>
          <p:cNvPr id="22" name="Text 18"/>
          <p:cNvSpPr txBox="1"/>
          <p:nvPr/>
        </p:nvSpPr>
        <p:spPr>
          <a:xfrm>
            <a:off x="10771632" y="6382512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19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Витрина — AIRuntime × MAX</dc:title>
  <dc:subject>PptxGenJS Presentation</dc:subject>
  <dc:creator>AIRuntime</dc:creator>
  <cp:lastModifiedBy>AIRuntime</cp:lastModifiedBy>
  <cp:revision>1</cp:revision>
  <dcterms:created xsi:type="dcterms:W3CDTF">2026-09-21T21:39:16Z</dcterms:created>
  <dcterms:modified xsi:type="dcterms:W3CDTF">2026-09-21T21:39:16Z</dcterms:modified>
</cp:coreProperties>
</file>